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2"/>
  </p:notesMasterIdLst>
  <p:handoutMasterIdLst>
    <p:handoutMasterId r:id="rId33"/>
  </p:handoutMasterIdLst>
  <p:sldIdLst>
    <p:sldId id="400" r:id="rId2"/>
    <p:sldId id="401" r:id="rId3"/>
    <p:sldId id="405" r:id="rId4"/>
    <p:sldId id="417" r:id="rId5"/>
    <p:sldId id="418" r:id="rId6"/>
    <p:sldId id="415" r:id="rId7"/>
    <p:sldId id="419" r:id="rId8"/>
    <p:sldId id="420" r:id="rId9"/>
    <p:sldId id="421" r:id="rId10"/>
    <p:sldId id="416" r:id="rId11"/>
    <p:sldId id="365" r:id="rId12"/>
    <p:sldId id="382" r:id="rId13"/>
    <p:sldId id="371" r:id="rId14"/>
    <p:sldId id="397" r:id="rId15"/>
    <p:sldId id="390" r:id="rId16"/>
    <p:sldId id="394" r:id="rId17"/>
    <p:sldId id="398" r:id="rId18"/>
    <p:sldId id="399" r:id="rId19"/>
    <p:sldId id="406" r:id="rId20"/>
    <p:sldId id="407" r:id="rId21"/>
    <p:sldId id="411" r:id="rId22"/>
    <p:sldId id="408" r:id="rId23"/>
    <p:sldId id="409" r:id="rId24"/>
    <p:sldId id="301" r:id="rId25"/>
    <p:sldId id="288" r:id="rId26"/>
    <p:sldId id="389" r:id="rId27"/>
    <p:sldId id="413" r:id="rId28"/>
    <p:sldId id="414" r:id="rId29"/>
    <p:sldId id="285" r:id="rId30"/>
    <p:sldId id="308" r:id="rId31"/>
  </p:sldIdLst>
  <p:sldSz cx="6858000" cy="9906000" type="A4"/>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4E63A"/>
    <a:srgbClr val="DDDDDD"/>
    <a:srgbClr val="C0C0C0"/>
    <a:srgbClr val="80808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85" autoAdjust="0"/>
    <p:restoredTop sz="94575" autoAdjust="0"/>
  </p:normalViewPr>
  <p:slideViewPr>
    <p:cSldViewPr>
      <p:cViewPr varScale="1">
        <p:scale>
          <a:sx n="58" d="100"/>
          <a:sy n="58" d="100"/>
        </p:scale>
        <p:origin x="2508" y="72"/>
      </p:cViewPr>
      <p:guideLst>
        <p:guide orient="horz" pos="312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3"/>
            <a:ext cx="2945659" cy="496575"/>
          </a:xfrm>
          <a:prstGeom prst="rect">
            <a:avLst/>
          </a:prstGeom>
          <a:noFill/>
          <a:ln w="9525">
            <a:noFill/>
            <a:miter lim="800000"/>
            <a:headEnd/>
            <a:tailEnd/>
          </a:ln>
          <a:effectLst/>
        </p:spPr>
        <p:txBody>
          <a:bodyPr vert="horz" wrap="square" lIns="92098" tIns="46049" rIns="92098" bIns="46049" numCol="1" anchor="t" anchorCtr="0" compatLnSpc="1">
            <a:prstTxWarp prst="textNoShape">
              <a:avLst/>
            </a:prstTxWarp>
          </a:bodyPr>
          <a:lstStyle>
            <a:lvl1pPr defTabSz="920750" eaLnBrk="0" hangingPunct="0">
              <a:defRPr sz="1200">
                <a:latin typeface="Times New Roman" pitchFamily="18" charset="0"/>
              </a:defRPr>
            </a:lvl1pPr>
          </a:lstStyle>
          <a:p>
            <a:pPr>
              <a:defRPr/>
            </a:pPr>
            <a:endParaRPr lang="es-ES"/>
          </a:p>
        </p:txBody>
      </p:sp>
      <p:sp>
        <p:nvSpPr>
          <p:cNvPr id="26627" name="Rectangle 3"/>
          <p:cNvSpPr>
            <a:spLocks noGrp="1" noChangeArrowheads="1"/>
          </p:cNvSpPr>
          <p:nvPr>
            <p:ph type="dt" sz="quarter" idx="1"/>
          </p:nvPr>
        </p:nvSpPr>
        <p:spPr bwMode="auto">
          <a:xfrm>
            <a:off x="3852017" y="3"/>
            <a:ext cx="2945659" cy="496575"/>
          </a:xfrm>
          <a:prstGeom prst="rect">
            <a:avLst/>
          </a:prstGeom>
          <a:noFill/>
          <a:ln w="9525">
            <a:noFill/>
            <a:miter lim="800000"/>
            <a:headEnd/>
            <a:tailEnd/>
          </a:ln>
          <a:effectLst/>
        </p:spPr>
        <p:txBody>
          <a:bodyPr vert="horz" wrap="square" lIns="92098" tIns="46049" rIns="92098" bIns="46049" numCol="1" anchor="t" anchorCtr="0" compatLnSpc="1">
            <a:prstTxWarp prst="textNoShape">
              <a:avLst/>
            </a:prstTxWarp>
          </a:bodyPr>
          <a:lstStyle>
            <a:lvl1pPr algn="r" defTabSz="920750" eaLnBrk="0" hangingPunct="0">
              <a:defRPr sz="1200">
                <a:latin typeface="Times New Roman" pitchFamily="18" charset="0"/>
              </a:defRPr>
            </a:lvl1pPr>
          </a:lstStyle>
          <a:p>
            <a:pPr>
              <a:defRPr/>
            </a:pPr>
            <a:endParaRPr lang="es-ES"/>
          </a:p>
        </p:txBody>
      </p:sp>
      <p:sp>
        <p:nvSpPr>
          <p:cNvPr id="26628" name="Rectangle 4"/>
          <p:cNvSpPr>
            <a:spLocks noGrp="1" noChangeArrowheads="1"/>
          </p:cNvSpPr>
          <p:nvPr>
            <p:ph type="ftr" sz="quarter" idx="2"/>
          </p:nvPr>
        </p:nvSpPr>
        <p:spPr bwMode="auto">
          <a:xfrm>
            <a:off x="1" y="9430065"/>
            <a:ext cx="2945659" cy="496575"/>
          </a:xfrm>
          <a:prstGeom prst="rect">
            <a:avLst/>
          </a:prstGeom>
          <a:noFill/>
          <a:ln w="9525">
            <a:noFill/>
            <a:miter lim="800000"/>
            <a:headEnd/>
            <a:tailEnd/>
          </a:ln>
          <a:effectLst/>
        </p:spPr>
        <p:txBody>
          <a:bodyPr vert="horz" wrap="square" lIns="92098" tIns="46049" rIns="92098" bIns="46049" numCol="1" anchor="b" anchorCtr="0" compatLnSpc="1">
            <a:prstTxWarp prst="textNoShape">
              <a:avLst/>
            </a:prstTxWarp>
          </a:bodyPr>
          <a:lstStyle>
            <a:lvl1pPr defTabSz="920750" eaLnBrk="0" hangingPunct="0">
              <a:defRPr sz="1200">
                <a:latin typeface="Times New Roman" pitchFamily="18" charset="0"/>
              </a:defRPr>
            </a:lvl1pPr>
          </a:lstStyle>
          <a:p>
            <a:pPr>
              <a:defRPr/>
            </a:pPr>
            <a:endParaRPr lang="es-ES"/>
          </a:p>
        </p:txBody>
      </p:sp>
      <p:sp>
        <p:nvSpPr>
          <p:cNvPr id="26629" name="Rectangle 5"/>
          <p:cNvSpPr>
            <a:spLocks noGrp="1" noChangeArrowheads="1"/>
          </p:cNvSpPr>
          <p:nvPr>
            <p:ph type="sldNum" sz="quarter" idx="3"/>
          </p:nvPr>
        </p:nvSpPr>
        <p:spPr bwMode="auto">
          <a:xfrm>
            <a:off x="3852017" y="9430065"/>
            <a:ext cx="2945659" cy="496575"/>
          </a:xfrm>
          <a:prstGeom prst="rect">
            <a:avLst/>
          </a:prstGeom>
          <a:noFill/>
          <a:ln w="9525">
            <a:noFill/>
            <a:miter lim="800000"/>
            <a:headEnd/>
            <a:tailEnd/>
          </a:ln>
          <a:effectLst/>
        </p:spPr>
        <p:txBody>
          <a:bodyPr vert="horz" wrap="square" lIns="92098" tIns="46049" rIns="92098" bIns="46049" numCol="1" anchor="b" anchorCtr="0" compatLnSpc="1">
            <a:prstTxWarp prst="textNoShape">
              <a:avLst/>
            </a:prstTxWarp>
          </a:bodyPr>
          <a:lstStyle>
            <a:lvl1pPr algn="r" defTabSz="920750" eaLnBrk="0" hangingPunct="0">
              <a:defRPr sz="1200">
                <a:latin typeface="Times New Roman" pitchFamily="18" charset="0"/>
              </a:defRPr>
            </a:lvl1pPr>
          </a:lstStyle>
          <a:p>
            <a:pPr>
              <a:defRPr/>
            </a:pPr>
            <a:fld id="{A02C70B1-C685-4F54-9F2F-7C55F43CDFCE}" type="slidenum">
              <a:rPr lang="es-ES"/>
              <a:pPr>
                <a:defRPr/>
              </a:pPr>
              <a:t>‹Nº›</a:t>
            </a:fld>
            <a:endParaRPr lang="es-ES"/>
          </a:p>
        </p:txBody>
      </p:sp>
    </p:spTree>
    <p:extLst>
      <p:ext uri="{BB962C8B-B14F-4D97-AF65-F5344CB8AC3E}">
        <p14:creationId xmlns:p14="http://schemas.microsoft.com/office/powerpoint/2010/main" val="18941853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3"/>
            <a:ext cx="2945659" cy="496575"/>
          </a:xfrm>
          <a:prstGeom prst="rect">
            <a:avLst/>
          </a:prstGeom>
          <a:noFill/>
          <a:ln w="9525">
            <a:noFill/>
            <a:miter lim="800000"/>
            <a:headEnd/>
            <a:tailEnd/>
          </a:ln>
          <a:effectLst/>
        </p:spPr>
        <p:txBody>
          <a:bodyPr vert="horz" wrap="square" lIns="92098" tIns="46049" rIns="92098" bIns="46049" numCol="1" anchor="t" anchorCtr="0" compatLnSpc="1">
            <a:prstTxWarp prst="textNoShape">
              <a:avLst/>
            </a:prstTxWarp>
          </a:bodyPr>
          <a:lstStyle>
            <a:lvl1pPr defTabSz="920750" eaLnBrk="0" hangingPunct="0">
              <a:defRPr sz="1200">
                <a:latin typeface="Times New Roman" pitchFamily="18" charset="0"/>
              </a:defRPr>
            </a:lvl1pPr>
          </a:lstStyle>
          <a:p>
            <a:pPr>
              <a:defRPr/>
            </a:pPr>
            <a:endParaRPr lang="es-ES"/>
          </a:p>
        </p:txBody>
      </p:sp>
      <p:sp>
        <p:nvSpPr>
          <p:cNvPr id="24579" name="Rectangle 3"/>
          <p:cNvSpPr>
            <a:spLocks noGrp="1" noChangeArrowheads="1"/>
          </p:cNvSpPr>
          <p:nvPr>
            <p:ph type="dt" idx="1"/>
          </p:nvPr>
        </p:nvSpPr>
        <p:spPr bwMode="auto">
          <a:xfrm>
            <a:off x="3852017" y="3"/>
            <a:ext cx="2945659" cy="496575"/>
          </a:xfrm>
          <a:prstGeom prst="rect">
            <a:avLst/>
          </a:prstGeom>
          <a:noFill/>
          <a:ln w="9525">
            <a:noFill/>
            <a:miter lim="800000"/>
            <a:headEnd/>
            <a:tailEnd/>
          </a:ln>
          <a:effectLst/>
        </p:spPr>
        <p:txBody>
          <a:bodyPr vert="horz" wrap="square" lIns="92098" tIns="46049" rIns="92098" bIns="46049" numCol="1" anchor="t" anchorCtr="0" compatLnSpc="1">
            <a:prstTxWarp prst="textNoShape">
              <a:avLst/>
            </a:prstTxWarp>
          </a:bodyPr>
          <a:lstStyle>
            <a:lvl1pPr algn="r" defTabSz="920750" eaLnBrk="0" hangingPunct="0">
              <a:defRPr sz="1200">
                <a:latin typeface="Times New Roman" pitchFamily="18" charset="0"/>
              </a:defRPr>
            </a:lvl1pPr>
          </a:lstStyle>
          <a:p>
            <a:pPr>
              <a:defRPr/>
            </a:pPr>
            <a:endParaRPr lang="es-ES"/>
          </a:p>
        </p:txBody>
      </p:sp>
      <p:sp>
        <p:nvSpPr>
          <p:cNvPr id="21508" name="Rectangle 4"/>
          <p:cNvSpPr>
            <a:spLocks noGrp="1" noRot="1" noChangeAspect="1" noChangeArrowheads="1" noTextEdit="1"/>
          </p:cNvSpPr>
          <p:nvPr>
            <p:ph type="sldImg" idx="2"/>
          </p:nvPr>
        </p:nvSpPr>
        <p:spPr bwMode="auto">
          <a:xfrm>
            <a:off x="2111375" y="744538"/>
            <a:ext cx="2576513"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906357" y="4714220"/>
            <a:ext cx="4984962" cy="4467554"/>
          </a:xfrm>
          <a:prstGeom prst="rect">
            <a:avLst/>
          </a:prstGeom>
          <a:noFill/>
          <a:ln w="9525">
            <a:noFill/>
            <a:miter lim="800000"/>
            <a:headEnd/>
            <a:tailEnd/>
          </a:ln>
          <a:effectLst/>
        </p:spPr>
        <p:txBody>
          <a:bodyPr vert="horz" wrap="square" lIns="92098" tIns="46049" rIns="92098" bIns="46049"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24582" name="Rectangle 6"/>
          <p:cNvSpPr>
            <a:spLocks noGrp="1" noChangeArrowheads="1"/>
          </p:cNvSpPr>
          <p:nvPr>
            <p:ph type="ftr" sz="quarter" idx="4"/>
          </p:nvPr>
        </p:nvSpPr>
        <p:spPr bwMode="auto">
          <a:xfrm>
            <a:off x="1" y="9430065"/>
            <a:ext cx="2945659" cy="496575"/>
          </a:xfrm>
          <a:prstGeom prst="rect">
            <a:avLst/>
          </a:prstGeom>
          <a:noFill/>
          <a:ln w="9525">
            <a:noFill/>
            <a:miter lim="800000"/>
            <a:headEnd/>
            <a:tailEnd/>
          </a:ln>
          <a:effectLst/>
        </p:spPr>
        <p:txBody>
          <a:bodyPr vert="horz" wrap="square" lIns="92098" tIns="46049" rIns="92098" bIns="46049" numCol="1" anchor="b" anchorCtr="0" compatLnSpc="1">
            <a:prstTxWarp prst="textNoShape">
              <a:avLst/>
            </a:prstTxWarp>
          </a:bodyPr>
          <a:lstStyle>
            <a:lvl1pPr defTabSz="920750" eaLnBrk="0" hangingPunct="0">
              <a:defRPr sz="1200">
                <a:latin typeface="Times New Roman" pitchFamily="18" charset="0"/>
              </a:defRPr>
            </a:lvl1pPr>
          </a:lstStyle>
          <a:p>
            <a:pPr>
              <a:defRPr/>
            </a:pPr>
            <a:endParaRPr lang="es-ES"/>
          </a:p>
        </p:txBody>
      </p:sp>
      <p:sp>
        <p:nvSpPr>
          <p:cNvPr id="24583" name="Rectangle 7"/>
          <p:cNvSpPr>
            <a:spLocks noGrp="1" noChangeArrowheads="1"/>
          </p:cNvSpPr>
          <p:nvPr>
            <p:ph type="sldNum" sz="quarter" idx="5"/>
          </p:nvPr>
        </p:nvSpPr>
        <p:spPr bwMode="auto">
          <a:xfrm>
            <a:off x="3852017" y="9430065"/>
            <a:ext cx="2945659" cy="496575"/>
          </a:xfrm>
          <a:prstGeom prst="rect">
            <a:avLst/>
          </a:prstGeom>
          <a:noFill/>
          <a:ln w="9525">
            <a:noFill/>
            <a:miter lim="800000"/>
            <a:headEnd/>
            <a:tailEnd/>
          </a:ln>
          <a:effectLst/>
        </p:spPr>
        <p:txBody>
          <a:bodyPr vert="horz" wrap="square" lIns="92098" tIns="46049" rIns="92098" bIns="46049" numCol="1" anchor="b" anchorCtr="0" compatLnSpc="1">
            <a:prstTxWarp prst="textNoShape">
              <a:avLst/>
            </a:prstTxWarp>
          </a:bodyPr>
          <a:lstStyle>
            <a:lvl1pPr algn="r" defTabSz="920750" eaLnBrk="0" hangingPunct="0">
              <a:defRPr sz="1200">
                <a:latin typeface="Times New Roman" pitchFamily="18" charset="0"/>
              </a:defRPr>
            </a:lvl1pPr>
          </a:lstStyle>
          <a:p>
            <a:pPr>
              <a:defRPr/>
            </a:pPr>
            <a:fld id="{E8FA9F9B-6A4A-4528-AD17-A22033E03245}" type="slidenum">
              <a:rPr lang="es-ES"/>
              <a:pPr>
                <a:defRPr/>
              </a:pPr>
              <a:t>‹Nº›</a:t>
            </a:fld>
            <a:endParaRPr lang="es-ES"/>
          </a:p>
        </p:txBody>
      </p:sp>
    </p:spTree>
    <p:extLst>
      <p:ext uri="{BB962C8B-B14F-4D97-AF65-F5344CB8AC3E}">
        <p14:creationId xmlns:p14="http://schemas.microsoft.com/office/powerpoint/2010/main" val="15906773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4081463" y="509588"/>
            <a:ext cx="1765300" cy="2549525"/>
          </a:xfrm>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cs typeface="Arial" pitchFamily="34" charset="0"/>
            </a:endParaRPr>
          </a:p>
        </p:txBody>
      </p:sp>
    </p:spTree>
    <p:extLst>
      <p:ext uri="{BB962C8B-B14F-4D97-AF65-F5344CB8AC3E}">
        <p14:creationId xmlns:p14="http://schemas.microsoft.com/office/powerpoint/2010/main" val="2740265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0675" name="Rectangle 19"/>
          <p:cNvSpPr>
            <a:spLocks noGrp="1" noChangeArrowheads="1"/>
          </p:cNvSpPr>
          <p:nvPr>
            <p:ph type="ctrTitle"/>
          </p:nvPr>
        </p:nvSpPr>
        <p:spPr>
          <a:xfrm>
            <a:off x="2228850" y="2641604"/>
            <a:ext cx="4514850" cy="3192463"/>
          </a:xfrm>
        </p:spPr>
        <p:txBody>
          <a:bodyPr/>
          <a:lstStyle>
            <a:lvl1pPr>
              <a:defRPr sz="2397">
                <a:solidFill>
                  <a:srgbClr val="FFFFFF"/>
                </a:solidFill>
              </a:defRPr>
            </a:lvl1pPr>
          </a:lstStyle>
          <a:p>
            <a:r>
              <a:rPr lang="es-ES" dirty="0"/>
              <a:t>Haga clic para cambiar el estilo de título	</a:t>
            </a:r>
          </a:p>
        </p:txBody>
      </p:sp>
      <p:sp>
        <p:nvSpPr>
          <p:cNvPr id="70676" name="Rectangle 20"/>
          <p:cNvSpPr>
            <a:spLocks noGrp="1" noChangeArrowheads="1"/>
          </p:cNvSpPr>
          <p:nvPr>
            <p:ph type="subTitle" idx="1"/>
          </p:nvPr>
        </p:nvSpPr>
        <p:spPr>
          <a:xfrm>
            <a:off x="2228850" y="6164267"/>
            <a:ext cx="4514850" cy="2530475"/>
          </a:xfrm>
        </p:spPr>
        <p:txBody>
          <a:bodyPr/>
          <a:lstStyle>
            <a:lvl1pPr marL="0" indent="0">
              <a:buFont typeface="Wingdings" pitchFamily="2" charset="2"/>
              <a:buNone/>
              <a:defRPr sz="1630"/>
            </a:lvl1pPr>
          </a:lstStyle>
          <a:p>
            <a:r>
              <a:rPr lang="es-ES"/>
              <a:t>Haga clic para modificar el estilo de subtítulo del patrón</a:t>
            </a:r>
          </a:p>
        </p:txBody>
      </p:sp>
      <p:sp>
        <p:nvSpPr>
          <p:cNvPr id="19" name="Rectangle 17"/>
          <p:cNvSpPr>
            <a:spLocks noGrp="1" noChangeArrowheads="1"/>
          </p:cNvSpPr>
          <p:nvPr>
            <p:ph type="ftr" sz="quarter" idx="10"/>
          </p:nvPr>
        </p:nvSpPr>
        <p:spPr bwMode="auto">
          <a:xfrm>
            <a:off x="2343150" y="9024938"/>
            <a:ext cx="2171700" cy="6604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575">
                <a:latin typeface="Arial" pitchFamily="34" charset="0"/>
              </a:defRPr>
            </a:lvl1pPr>
          </a:lstStyle>
          <a:p>
            <a:pPr>
              <a:defRPr/>
            </a:pPr>
            <a:endParaRPr lang="es-ES"/>
          </a:p>
        </p:txBody>
      </p:sp>
    </p:spTree>
    <p:extLst>
      <p:ext uri="{BB962C8B-B14F-4D97-AF65-F5344CB8AC3E}">
        <p14:creationId xmlns:p14="http://schemas.microsoft.com/office/powerpoint/2010/main" val="411362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407122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541338" y="6365880"/>
            <a:ext cx="5829300" cy="1966913"/>
          </a:xfrm>
        </p:spPr>
        <p:txBody>
          <a:bodyPr anchor="t"/>
          <a:lstStyle>
            <a:lvl1pPr algn="l">
              <a:defRPr sz="1917" b="1" cap="all"/>
            </a:lvl1pPr>
          </a:lstStyle>
          <a:p>
            <a:r>
              <a:rPr lang="es-ES"/>
              <a:t>Haga clic para modificar el estilo de título del patrón</a:t>
            </a:r>
          </a:p>
        </p:txBody>
      </p:sp>
      <p:sp>
        <p:nvSpPr>
          <p:cNvPr id="3" name="2 Marcador de texto"/>
          <p:cNvSpPr>
            <a:spLocks noGrp="1"/>
          </p:cNvSpPr>
          <p:nvPr>
            <p:ph type="body" idx="1"/>
          </p:nvPr>
        </p:nvSpPr>
        <p:spPr>
          <a:xfrm>
            <a:off x="541338" y="4198943"/>
            <a:ext cx="5829300" cy="2166937"/>
          </a:xfrm>
        </p:spPr>
        <p:txBody>
          <a:bodyPr anchor="b"/>
          <a:lstStyle>
            <a:lvl1pPr marL="0" indent="0">
              <a:buNone/>
              <a:defRPr sz="959"/>
            </a:lvl1pPr>
            <a:lvl2pPr marL="219127" indent="0">
              <a:buNone/>
              <a:defRPr sz="863"/>
            </a:lvl2pPr>
            <a:lvl3pPr marL="438253" indent="0">
              <a:buNone/>
              <a:defRPr sz="767"/>
            </a:lvl3pPr>
            <a:lvl4pPr marL="657380" indent="0">
              <a:buNone/>
              <a:defRPr sz="671"/>
            </a:lvl4pPr>
            <a:lvl5pPr marL="876506" indent="0">
              <a:buNone/>
              <a:defRPr sz="671"/>
            </a:lvl5pPr>
            <a:lvl6pPr marL="1095633" indent="0">
              <a:buNone/>
              <a:defRPr sz="671"/>
            </a:lvl6pPr>
            <a:lvl7pPr marL="1314759" indent="0">
              <a:buNone/>
              <a:defRPr sz="671"/>
            </a:lvl7pPr>
            <a:lvl8pPr marL="1533885" indent="0">
              <a:buNone/>
              <a:defRPr sz="671"/>
            </a:lvl8pPr>
            <a:lvl9pPr marL="1753012" indent="0">
              <a:buNone/>
              <a:defRPr sz="671"/>
            </a:lvl9pPr>
          </a:lstStyle>
          <a:p>
            <a:pPr lvl="0"/>
            <a:r>
              <a:rPr lang="es-ES"/>
              <a:t>Haga clic para modificar el estilo de texto del patrón</a:t>
            </a:r>
          </a:p>
        </p:txBody>
      </p:sp>
    </p:spTree>
    <p:extLst>
      <p:ext uri="{BB962C8B-B14F-4D97-AF65-F5344CB8AC3E}">
        <p14:creationId xmlns:p14="http://schemas.microsoft.com/office/powerpoint/2010/main" val="175508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Tree>
    <p:extLst>
      <p:ext uri="{BB962C8B-B14F-4D97-AF65-F5344CB8AC3E}">
        <p14:creationId xmlns:p14="http://schemas.microsoft.com/office/powerpoint/2010/main" val="2841611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338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342900" y="660404"/>
            <a:ext cx="6172200" cy="7815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106713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cid:15018862a1ec9878711"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4"/>
          <p:cNvSpPr>
            <a:spLocks noGrp="1" noChangeArrowheads="1"/>
          </p:cNvSpPr>
          <p:nvPr>
            <p:ph type="title"/>
          </p:nvPr>
        </p:nvSpPr>
        <p:spPr bwMode="auto">
          <a:xfrm>
            <a:off x="342900" y="660400"/>
            <a:ext cx="6172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
        <p:nvSpPr>
          <p:cNvPr id="1028" name="Rectangle 15"/>
          <p:cNvSpPr>
            <a:spLocks noGrp="1" noChangeArrowheads="1"/>
          </p:cNvSpPr>
          <p:nvPr>
            <p:ph type="body" idx="1"/>
          </p:nvPr>
        </p:nvSpPr>
        <p:spPr bwMode="auto">
          <a:xfrm>
            <a:off x="342900" y="2862263"/>
            <a:ext cx="6172200" cy="561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7" name="Rectangle 2"/>
          <p:cNvSpPr txBox="1">
            <a:spLocks noChangeArrowheads="1"/>
          </p:cNvSpPr>
          <p:nvPr userDrawn="1"/>
        </p:nvSpPr>
        <p:spPr bwMode="auto">
          <a:xfrm>
            <a:off x="1" y="1"/>
            <a:ext cx="2949149" cy="172275"/>
          </a:xfrm>
          <a:prstGeom prst="rect">
            <a:avLst/>
          </a:prstGeom>
          <a:noFill/>
          <a:ln w="9525">
            <a:noFill/>
            <a:miter lim="800000"/>
            <a:headEnd/>
            <a:tailEnd/>
          </a:ln>
        </p:spPr>
        <p:txBody>
          <a:bodyPr vert="horz" wrap="square" lIns="21006" tIns="10503" rIns="21006" bIns="10503" numCol="1" anchor="t"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itchFamily="34" charset="0"/>
              </a:defRPr>
            </a:lvl2pPr>
            <a:lvl3pPr algn="l" rtl="0" eaLnBrk="0" fontAlgn="base" hangingPunct="0">
              <a:spcBef>
                <a:spcPct val="0"/>
              </a:spcBef>
              <a:spcAft>
                <a:spcPct val="0"/>
              </a:spcAft>
              <a:defRPr sz="4400">
                <a:solidFill>
                  <a:schemeClr val="tx1"/>
                </a:solidFill>
                <a:latin typeface="Arial" pitchFamily="34" charset="0"/>
              </a:defRPr>
            </a:lvl3pPr>
            <a:lvl4pPr algn="l" rtl="0" eaLnBrk="0" fontAlgn="base" hangingPunct="0">
              <a:spcBef>
                <a:spcPct val="0"/>
              </a:spcBef>
              <a:spcAft>
                <a:spcPct val="0"/>
              </a:spcAft>
              <a:defRPr sz="4400">
                <a:solidFill>
                  <a:schemeClr val="tx1"/>
                </a:solidFill>
                <a:latin typeface="Arial" pitchFamily="34" charset="0"/>
              </a:defRPr>
            </a:lvl4pPr>
            <a:lvl5pPr algn="l" rtl="0" eaLnBrk="0" fontAlgn="base" hangingPunct="0">
              <a:spcBef>
                <a:spcPct val="0"/>
              </a:spcBef>
              <a:spcAft>
                <a:spcPct val="0"/>
              </a:spcAft>
              <a:defRPr sz="4400">
                <a:solidFill>
                  <a:schemeClr val="tx1"/>
                </a:solidFill>
                <a:latin typeface="Arial" pitchFamily="34" charset="0"/>
              </a:defRPr>
            </a:lvl5pPr>
            <a:lvl6pPr marL="457200" algn="l" rtl="0" fontAlgn="base">
              <a:spcBef>
                <a:spcPct val="0"/>
              </a:spcBef>
              <a:spcAft>
                <a:spcPct val="0"/>
              </a:spcAft>
              <a:defRPr sz="4400">
                <a:solidFill>
                  <a:schemeClr val="tx1"/>
                </a:solidFill>
                <a:latin typeface="Arial" pitchFamily="34" charset="0"/>
              </a:defRPr>
            </a:lvl6pPr>
            <a:lvl7pPr marL="914400" algn="l" rtl="0" fontAlgn="base">
              <a:spcBef>
                <a:spcPct val="0"/>
              </a:spcBef>
              <a:spcAft>
                <a:spcPct val="0"/>
              </a:spcAft>
              <a:defRPr sz="4400">
                <a:solidFill>
                  <a:schemeClr val="tx1"/>
                </a:solidFill>
                <a:latin typeface="Arial" pitchFamily="34" charset="0"/>
              </a:defRPr>
            </a:lvl7pPr>
            <a:lvl8pPr marL="1371600" algn="l" rtl="0" fontAlgn="base">
              <a:spcBef>
                <a:spcPct val="0"/>
              </a:spcBef>
              <a:spcAft>
                <a:spcPct val="0"/>
              </a:spcAft>
              <a:defRPr sz="4400">
                <a:solidFill>
                  <a:schemeClr val="tx1"/>
                </a:solidFill>
                <a:latin typeface="Arial" pitchFamily="34" charset="0"/>
              </a:defRPr>
            </a:lvl8pPr>
            <a:lvl9pPr marL="1828800" algn="l" rtl="0" fontAlgn="base">
              <a:spcBef>
                <a:spcPct val="0"/>
              </a:spcBef>
              <a:spcAft>
                <a:spcPct val="0"/>
              </a:spcAft>
              <a:defRPr sz="4400">
                <a:solidFill>
                  <a:schemeClr val="tx1"/>
                </a:solidFill>
                <a:latin typeface="Arial" pitchFamily="34" charset="0"/>
              </a:defRPr>
            </a:lvl9pPr>
          </a:lstStyle>
          <a:p>
            <a:pPr eaLnBrk="1" hangingPunct="1"/>
            <a:r>
              <a:rPr lang="es-ES" sz="800" dirty="0">
                <a:latin typeface="Arial" pitchFamily="34" charset="0"/>
                <a:cs typeface="Arial" pitchFamily="34" charset="0"/>
              </a:rPr>
              <a:t>FUENTES ORNAMENTALES DE SALOBREÑA</a:t>
            </a:r>
          </a:p>
        </p:txBody>
      </p:sp>
      <p:pic>
        <p:nvPicPr>
          <p:cNvPr id="6" name="4 Imagen" descr="logo_fondo_transparente.png"/>
          <p:cNvPicPr/>
          <p:nvPr userDrawn="1"/>
        </p:nvPicPr>
        <p:blipFill>
          <a:blip r:embed="rId8" r:link="rId9" cstate="print">
            <a:extLst>
              <a:ext uri="{28A0092B-C50C-407E-A947-70E740481C1C}">
                <a14:useLocalDpi xmlns:a14="http://schemas.microsoft.com/office/drawing/2010/main" val="0"/>
              </a:ext>
            </a:extLst>
          </a:blip>
          <a:srcRect/>
          <a:stretch>
            <a:fillRect/>
          </a:stretch>
        </p:blipFill>
        <p:spPr bwMode="auto">
          <a:xfrm>
            <a:off x="6221372" y="0"/>
            <a:ext cx="587455" cy="244565"/>
          </a:xfrm>
          <a:prstGeom prst="rect">
            <a:avLst/>
          </a:prstGeom>
          <a:noFill/>
          <a:ln>
            <a:noFill/>
          </a:ln>
        </p:spPr>
      </p:pic>
      <p:sp>
        <p:nvSpPr>
          <p:cNvPr id="7" name="Rectangle 2"/>
          <p:cNvSpPr txBox="1">
            <a:spLocks noChangeArrowheads="1"/>
          </p:cNvSpPr>
          <p:nvPr userDrawn="1"/>
        </p:nvSpPr>
        <p:spPr bwMode="auto">
          <a:xfrm>
            <a:off x="4725143" y="9623012"/>
            <a:ext cx="2132857" cy="29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lgn="r" eaLnBrk="1" hangingPunct="1"/>
            <a:r>
              <a:rPr lang="es-ES_tradnl" sz="800" dirty="0">
                <a:cs typeface="Arial" charset="0"/>
              </a:rPr>
              <a:t>FECHA REVISION: JUNIO 2023   </a:t>
            </a:r>
          </a:p>
          <a:p>
            <a:pPr marL="0" indent="0" algn="r" eaLnBrk="1" hangingPunct="1"/>
            <a:r>
              <a:rPr lang="es-ES_tradnl" sz="800" dirty="0">
                <a:cs typeface="Arial" charset="0"/>
              </a:rPr>
              <a:t>                          REVISIÓN: 0</a:t>
            </a:r>
          </a:p>
          <a:p>
            <a:pPr algn="r" eaLnBrk="1" hangingPunct="1"/>
            <a:endParaRPr lang="es-ES_tradnl" sz="366" dirty="0">
              <a:cs typeface="Arial" charset="0"/>
            </a:endParaRPr>
          </a:p>
        </p:txBody>
      </p:sp>
    </p:spTree>
    <p:extLst>
      <p:ext uri="{BB962C8B-B14F-4D97-AF65-F5344CB8AC3E}">
        <p14:creationId xmlns:p14="http://schemas.microsoft.com/office/powerpoint/2010/main" val="1804039598"/>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7" r:id="rId4"/>
    <p:sldLayoutId id="2147483838" r:id="rId5"/>
    <p:sldLayoutId id="2147483843" r:id="rId6"/>
  </p:sldLayoutIdLst>
  <p:txStyles>
    <p:titleStyle>
      <a:lvl1pPr algn="l" rtl="0" eaLnBrk="0" fontAlgn="base" hangingPunct="0">
        <a:spcBef>
          <a:spcPct val="0"/>
        </a:spcBef>
        <a:spcAft>
          <a:spcPct val="0"/>
        </a:spcAft>
        <a:defRPr sz="2109">
          <a:solidFill>
            <a:schemeClr val="tx1"/>
          </a:solidFill>
          <a:latin typeface="+mj-lt"/>
          <a:ea typeface="+mj-ea"/>
          <a:cs typeface="+mj-cs"/>
        </a:defRPr>
      </a:lvl1pPr>
      <a:lvl2pPr algn="l" rtl="0" eaLnBrk="0" fontAlgn="base" hangingPunct="0">
        <a:spcBef>
          <a:spcPct val="0"/>
        </a:spcBef>
        <a:spcAft>
          <a:spcPct val="0"/>
        </a:spcAft>
        <a:defRPr sz="2109">
          <a:solidFill>
            <a:schemeClr val="tx1"/>
          </a:solidFill>
          <a:latin typeface="Arial" pitchFamily="34" charset="0"/>
        </a:defRPr>
      </a:lvl2pPr>
      <a:lvl3pPr algn="l" rtl="0" eaLnBrk="0" fontAlgn="base" hangingPunct="0">
        <a:spcBef>
          <a:spcPct val="0"/>
        </a:spcBef>
        <a:spcAft>
          <a:spcPct val="0"/>
        </a:spcAft>
        <a:defRPr sz="2109">
          <a:solidFill>
            <a:schemeClr val="tx1"/>
          </a:solidFill>
          <a:latin typeface="Arial" pitchFamily="34" charset="0"/>
        </a:defRPr>
      </a:lvl3pPr>
      <a:lvl4pPr algn="l" rtl="0" eaLnBrk="0" fontAlgn="base" hangingPunct="0">
        <a:spcBef>
          <a:spcPct val="0"/>
        </a:spcBef>
        <a:spcAft>
          <a:spcPct val="0"/>
        </a:spcAft>
        <a:defRPr sz="2109">
          <a:solidFill>
            <a:schemeClr val="tx1"/>
          </a:solidFill>
          <a:latin typeface="Arial" pitchFamily="34" charset="0"/>
        </a:defRPr>
      </a:lvl4pPr>
      <a:lvl5pPr algn="l" rtl="0" eaLnBrk="0" fontAlgn="base" hangingPunct="0">
        <a:spcBef>
          <a:spcPct val="0"/>
        </a:spcBef>
        <a:spcAft>
          <a:spcPct val="0"/>
        </a:spcAft>
        <a:defRPr sz="2109">
          <a:solidFill>
            <a:schemeClr val="tx1"/>
          </a:solidFill>
          <a:latin typeface="Arial" pitchFamily="34" charset="0"/>
        </a:defRPr>
      </a:lvl5pPr>
      <a:lvl6pPr marL="219127" algn="l" rtl="0" fontAlgn="base">
        <a:spcBef>
          <a:spcPct val="0"/>
        </a:spcBef>
        <a:spcAft>
          <a:spcPct val="0"/>
        </a:spcAft>
        <a:defRPr sz="2109">
          <a:solidFill>
            <a:schemeClr val="tx1"/>
          </a:solidFill>
          <a:latin typeface="Arial" pitchFamily="34" charset="0"/>
        </a:defRPr>
      </a:lvl6pPr>
      <a:lvl7pPr marL="438253" algn="l" rtl="0" fontAlgn="base">
        <a:spcBef>
          <a:spcPct val="0"/>
        </a:spcBef>
        <a:spcAft>
          <a:spcPct val="0"/>
        </a:spcAft>
        <a:defRPr sz="2109">
          <a:solidFill>
            <a:schemeClr val="tx1"/>
          </a:solidFill>
          <a:latin typeface="Arial" pitchFamily="34" charset="0"/>
        </a:defRPr>
      </a:lvl7pPr>
      <a:lvl8pPr marL="657380" algn="l" rtl="0" fontAlgn="base">
        <a:spcBef>
          <a:spcPct val="0"/>
        </a:spcBef>
        <a:spcAft>
          <a:spcPct val="0"/>
        </a:spcAft>
        <a:defRPr sz="2109">
          <a:solidFill>
            <a:schemeClr val="tx1"/>
          </a:solidFill>
          <a:latin typeface="Arial" pitchFamily="34" charset="0"/>
        </a:defRPr>
      </a:lvl8pPr>
      <a:lvl9pPr marL="876506" algn="l" rtl="0" fontAlgn="base">
        <a:spcBef>
          <a:spcPct val="0"/>
        </a:spcBef>
        <a:spcAft>
          <a:spcPct val="0"/>
        </a:spcAft>
        <a:defRPr sz="2109">
          <a:solidFill>
            <a:schemeClr val="tx1"/>
          </a:solidFill>
          <a:latin typeface="Arial" pitchFamily="34" charset="0"/>
        </a:defRPr>
      </a:lvl9pPr>
    </p:titleStyle>
    <p:bodyStyle>
      <a:lvl1pPr marL="164345" indent="-164345" algn="l" rtl="0" eaLnBrk="0" fontAlgn="base" hangingPunct="0">
        <a:spcBef>
          <a:spcPct val="20000"/>
        </a:spcBef>
        <a:spcAft>
          <a:spcPct val="0"/>
        </a:spcAft>
        <a:buClr>
          <a:schemeClr val="bg2"/>
        </a:buClr>
        <a:buSzPct val="75000"/>
        <a:buFont typeface="Wingdings" pitchFamily="2" charset="2"/>
        <a:buChar char="n"/>
        <a:defRPr sz="1533">
          <a:solidFill>
            <a:schemeClr val="tx1"/>
          </a:solidFill>
          <a:latin typeface="+mn-lt"/>
          <a:ea typeface="+mn-ea"/>
          <a:cs typeface="+mn-cs"/>
        </a:defRPr>
      </a:lvl1pPr>
      <a:lvl2pPr marL="356080" indent="-136954" algn="l" rtl="0" eaLnBrk="0" fontAlgn="base" hangingPunct="0">
        <a:spcBef>
          <a:spcPct val="20000"/>
        </a:spcBef>
        <a:spcAft>
          <a:spcPct val="0"/>
        </a:spcAft>
        <a:buClr>
          <a:schemeClr val="accent2"/>
        </a:buClr>
        <a:buSzPct val="80000"/>
        <a:buFont typeface="Wingdings" pitchFamily="2" charset="2"/>
        <a:buChar char="¨"/>
        <a:defRPr sz="1342">
          <a:solidFill>
            <a:schemeClr val="tx1"/>
          </a:solidFill>
          <a:latin typeface="+mn-lt"/>
        </a:defRPr>
      </a:lvl2pPr>
      <a:lvl3pPr marL="547816" indent="-109563" algn="l" rtl="0" eaLnBrk="0" fontAlgn="base" hangingPunct="0">
        <a:spcBef>
          <a:spcPct val="20000"/>
        </a:spcBef>
        <a:spcAft>
          <a:spcPct val="0"/>
        </a:spcAft>
        <a:buClr>
          <a:schemeClr val="bg2"/>
        </a:buClr>
        <a:buSzPct val="65000"/>
        <a:buFont typeface="Wingdings" pitchFamily="2" charset="2"/>
        <a:buChar char="n"/>
        <a:defRPr sz="1151">
          <a:solidFill>
            <a:schemeClr val="tx1"/>
          </a:solidFill>
          <a:latin typeface="+mn-lt"/>
        </a:defRPr>
      </a:lvl3pPr>
      <a:lvl4pPr marL="766942" indent="-109563" algn="l" rtl="0" eaLnBrk="0" fontAlgn="base" hangingPunct="0">
        <a:spcBef>
          <a:spcPct val="20000"/>
        </a:spcBef>
        <a:spcAft>
          <a:spcPct val="0"/>
        </a:spcAft>
        <a:buClr>
          <a:schemeClr val="accent2"/>
        </a:buClr>
        <a:buSzPct val="70000"/>
        <a:buFont typeface="Wingdings" pitchFamily="2" charset="2"/>
        <a:buChar char="¨"/>
        <a:defRPr sz="959">
          <a:solidFill>
            <a:schemeClr val="tx1"/>
          </a:solidFill>
          <a:latin typeface="+mn-lt"/>
        </a:defRPr>
      </a:lvl4pPr>
      <a:lvl5pPr marL="986069" indent="-109563" algn="l" rtl="0" eaLnBrk="0" fontAlgn="base" hangingPunct="0">
        <a:spcBef>
          <a:spcPct val="20000"/>
        </a:spcBef>
        <a:spcAft>
          <a:spcPct val="0"/>
        </a:spcAft>
        <a:buClr>
          <a:schemeClr val="bg2"/>
        </a:buClr>
        <a:buFont typeface="Wingdings" pitchFamily="2" charset="2"/>
        <a:buChar char="§"/>
        <a:defRPr sz="959">
          <a:solidFill>
            <a:schemeClr val="tx1"/>
          </a:solidFill>
          <a:latin typeface="+mn-lt"/>
        </a:defRPr>
      </a:lvl5pPr>
      <a:lvl6pPr marL="1205196" indent="-109563" algn="l" rtl="0" fontAlgn="base">
        <a:spcBef>
          <a:spcPct val="20000"/>
        </a:spcBef>
        <a:spcAft>
          <a:spcPct val="0"/>
        </a:spcAft>
        <a:buClr>
          <a:schemeClr val="bg2"/>
        </a:buClr>
        <a:buFont typeface="Wingdings" pitchFamily="2" charset="2"/>
        <a:buChar char="§"/>
        <a:defRPr sz="959">
          <a:solidFill>
            <a:schemeClr val="tx1"/>
          </a:solidFill>
          <a:latin typeface="+mn-lt"/>
        </a:defRPr>
      </a:lvl6pPr>
      <a:lvl7pPr marL="1424322" indent="-109563" algn="l" rtl="0" fontAlgn="base">
        <a:spcBef>
          <a:spcPct val="20000"/>
        </a:spcBef>
        <a:spcAft>
          <a:spcPct val="0"/>
        </a:spcAft>
        <a:buClr>
          <a:schemeClr val="bg2"/>
        </a:buClr>
        <a:buFont typeface="Wingdings" pitchFamily="2" charset="2"/>
        <a:buChar char="§"/>
        <a:defRPr sz="959">
          <a:solidFill>
            <a:schemeClr val="tx1"/>
          </a:solidFill>
          <a:latin typeface="+mn-lt"/>
        </a:defRPr>
      </a:lvl7pPr>
      <a:lvl8pPr marL="1643449" indent="-109563" algn="l" rtl="0" fontAlgn="base">
        <a:spcBef>
          <a:spcPct val="20000"/>
        </a:spcBef>
        <a:spcAft>
          <a:spcPct val="0"/>
        </a:spcAft>
        <a:buClr>
          <a:schemeClr val="bg2"/>
        </a:buClr>
        <a:buFont typeface="Wingdings" pitchFamily="2" charset="2"/>
        <a:buChar char="§"/>
        <a:defRPr sz="959">
          <a:solidFill>
            <a:schemeClr val="tx1"/>
          </a:solidFill>
          <a:latin typeface="+mn-lt"/>
        </a:defRPr>
      </a:lvl8pPr>
      <a:lvl9pPr marL="1862575" indent="-109563" algn="l" rtl="0" fontAlgn="base">
        <a:spcBef>
          <a:spcPct val="20000"/>
        </a:spcBef>
        <a:spcAft>
          <a:spcPct val="0"/>
        </a:spcAft>
        <a:buClr>
          <a:schemeClr val="bg2"/>
        </a:buClr>
        <a:buFont typeface="Wingdings" pitchFamily="2" charset="2"/>
        <a:buChar char="§"/>
        <a:defRPr sz="959">
          <a:solidFill>
            <a:schemeClr val="tx1"/>
          </a:solidFill>
          <a:latin typeface="+mn-lt"/>
        </a:defRPr>
      </a:lvl9pPr>
    </p:bodyStyle>
    <p:otherStyle>
      <a:defPPr>
        <a:defRPr lang="es-ES"/>
      </a:defPPr>
      <a:lvl1pPr marL="0" algn="l" defTabSz="438253" rtl="0" eaLnBrk="1" latinLnBrk="0" hangingPunct="1">
        <a:defRPr sz="863" kern="1200">
          <a:solidFill>
            <a:schemeClr val="tx1"/>
          </a:solidFill>
          <a:latin typeface="+mn-lt"/>
          <a:ea typeface="+mn-ea"/>
          <a:cs typeface="+mn-cs"/>
        </a:defRPr>
      </a:lvl1pPr>
      <a:lvl2pPr marL="219127" algn="l" defTabSz="438253" rtl="0" eaLnBrk="1" latinLnBrk="0" hangingPunct="1">
        <a:defRPr sz="863" kern="1200">
          <a:solidFill>
            <a:schemeClr val="tx1"/>
          </a:solidFill>
          <a:latin typeface="+mn-lt"/>
          <a:ea typeface="+mn-ea"/>
          <a:cs typeface="+mn-cs"/>
        </a:defRPr>
      </a:lvl2pPr>
      <a:lvl3pPr marL="438253" algn="l" defTabSz="438253" rtl="0" eaLnBrk="1" latinLnBrk="0" hangingPunct="1">
        <a:defRPr sz="863" kern="1200">
          <a:solidFill>
            <a:schemeClr val="tx1"/>
          </a:solidFill>
          <a:latin typeface="+mn-lt"/>
          <a:ea typeface="+mn-ea"/>
          <a:cs typeface="+mn-cs"/>
        </a:defRPr>
      </a:lvl3pPr>
      <a:lvl4pPr marL="657380" algn="l" defTabSz="438253" rtl="0" eaLnBrk="1" latinLnBrk="0" hangingPunct="1">
        <a:defRPr sz="863" kern="1200">
          <a:solidFill>
            <a:schemeClr val="tx1"/>
          </a:solidFill>
          <a:latin typeface="+mn-lt"/>
          <a:ea typeface="+mn-ea"/>
          <a:cs typeface="+mn-cs"/>
        </a:defRPr>
      </a:lvl4pPr>
      <a:lvl5pPr marL="876506" algn="l" defTabSz="438253" rtl="0" eaLnBrk="1" latinLnBrk="0" hangingPunct="1">
        <a:defRPr sz="863" kern="1200">
          <a:solidFill>
            <a:schemeClr val="tx1"/>
          </a:solidFill>
          <a:latin typeface="+mn-lt"/>
          <a:ea typeface="+mn-ea"/>
          <a:cs typeface="+mn-cs"/>
        </a:defRPr>
      </a:lvl5pPr>
      <a:lvl6pPr marL="1095633" algn="l" defTabSz="438253" rtl="0" eaLnBrk="1" latinLnBrk="0" hangingPunct="1">
        <a:defRPr sz="863" kern="1200">
          <a:solidFill>
            <a:schemeClr val="tx1"/>
          </a:solidFill>
          <a:latin typeface="+mn-lt"/>
          <a:ea typeface="+mn-ea"/>
          <a:cs typeface="+mn-cs"/>
        </a:defRPr>
      </a:lvl6pPr>
      <a:lvl7pPr marL="1314759" algn="l" defTabSz="438253" rtl="0" eaLnBrk="1" latinLnBrk="0" hangingPunct="1">
        <a:defRPr sz="863" kern="1200">
          <a:solidFill>
            <a:schemeClr val="tx1"/>
          </a:solidFill>
          <a:latin typeface="+mn-lt"/>
          <a:ea typeface="+mn-ea"/>
          <a:cs typeface="+mn-cs"/>
        </a:defRPr>
      </a:lvl7pPr>
      <a:lvl8pPr marL="1533885" algn="l" defTabSz="438253" rtl="0" eaLnBrk="1" latinLnBrk="0" hangingPunct="1">
        <a:defRPr sz="863" kern="1200">
          <a:solidFill>
            <a:schemeClr val="tx1"/>
          </a:solidFill>
          <a:latin typeface="+mn-lt"/>
          <a:ea typeface="+mn-ea"/>
          <a:cs typeface="+mn-cs"/>
        </a:defRPr>
      </a:lvl8pPr>
      <a:lvl9pPr marL="1753012" algn="l" defTabSz="438253" rtl="0" eaLnBrk="1" latinLnBrk="0" hangingPunct="1">
        <a:defRPr sz="8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42642" y="2746743"/>
            <a:ext cx="7030639" cy="5800097"/>
          </a:xfrm>
          <a:prstGeom prst="rect">
            <a:avLst/>
          </a:prstGeom>
        </p:spPr>
      </p:pic>
      <p:sp>
        <p:nvSpPr>
          <p:cNvPr id="4" name="Rectangle 4"/>
          <p:cNvSpPr>
            <a:spLocks noGrp="1" noChangeArrowheads="1"/>
          </p:cNvSpPr>
          <p:nvPr>
            <p:ph type="ctrTitle"/>
          </p:nvPr>
        </p:nvSpPr>
        <p:spPr>
          <a:xfrm>
            <a:off x="10531" y="992560"/>
            <a:ext cx="6858000" cy="4971901"/>
          </a:xfrm>
        </p:spPr>
        <p:txBody>
          <a:bodyPr anchor="ctr">
            <a:normAutofit/>
          </a:bodyPr>
          <a:lstStyle/>
          <a:p>
            <a:pPr algn="ctr" eaLnBrk="1" hangingPunct="1"/>
            <a:r>
              <a:rPr lang="es-ES" sz="4000" dirty="0"/>
              <a:t> </a:t>
            </a:r>
            <a:r>
              <a:rPr lang="es-ES" sz="4800" dirty="0">
                <a:solidFill>
                  <a:srgbClr val="FF0000"/>
                </a:solidFill>
              </a:rPr>
              <a:t>Registros De </a:t>
            </a:r>
            <a:br>
              <a:rPr lang="es-ES" sz="4800" dirty="0">
                <a:solidFill>
                  <a:srgbClr val="FF0000"/>
                </a:solidFill>
              </a:rPr>
            </a:br>
            <a:r>
              <a:rPr lang="es-ES" sz="4800" dirty="0">
                <a:solidFill>
                  <a:srgbClr val="FF0000"/>
                </a:solidFill>
              </a:rPr>
              <a:t>Mantenimiento </a:t>
            </a:r>
            <a:br>
              <a:rPr lang="es-ES" sz="4800" dirty="0">
                <a:solidFill>
                  <a:srgbClr val="FF0000"/>
                </a:solidFill>
              </a:rPr>
            </a:br>
            <a:r>
              <a:rPr lang="es-ES" sz="4800" dirty="0">
                <a:solidFill>
                  <a:srgbClr val="FF0000"/>
                </a:solidFill>
              </a:rPr>
              <a:t>Fuentes Salobreña </a:t>
            </a:r>
            <a:br>
              <a:rPr lang="es-ES" sz="4000" dirty="0">
                <a:solidFill>
                  <a:schemeClr val="tx1"/>
                </a:solidFill>
              </a:rPr>
            </a:br>
            <a:r>
              <a:rPr lang="es-ES" sz="4000" dirty="0">
                <a:solidFill>
                  <a:schemeClr val="tx1"/>
                </a:solidFill>
              </a:rPr>
              <a:t>Para La Prevención y Control De La Legionelosis En Instalaciones</a:t>
            </a:r>
            <a:br>
              <a:rPr lang="es-ES" sz="4000" dirty="0">
                <a:solidFill>
                  <a:schemeClr val="tx1"/>
                </a:solidFill>
              </a:rPr>
            </a:br>
            <a:r>
              <a:rPr lang="es-ES" sz="4000" dirty="0">
                <a:solidFill>
                  <a:schemeClr val="tx1"/>
                </a:solidFill>
              </a:rPr>
              <a:t> Según RD 487/2022</a:t>
            </a:r>
            <a:endParaRPr lang="es-ES" sz="4000" dirty="0">
              <a:solidFill>
                <a:schemeClr val="tx1"/>
              </a:solidFill>
              <a:latin typeface="Times New Roman" pitchFamily="18" charset="0"/>
            </a:endParaRPr>
          </a:p>
        </p:txBody>
      </p:sp>
      <p:sp>
        <p:nvSpPr>
          <p:cNvPr id="3" name="Rectangle 5"/>
          <p:cNvSpPr>
            <a:spLocks noGrp="1" noChangeArrowheads="1"/>
          </p:cNvSpPr>
          <p:nvPr>
            <p:ph type="subTitle" idx="1"/>
          </p:nvPr>
        </p:nvSpPr>
        <p:spPr>
          <a:xfrm>
            <a:off x="836712" y="6177137"/>
            <a:ext cx="5760640" cy="1368152"/>
          </a:xfrm>
        </p:spPr>
        <p:txBody>
          <a:bodyPr/>
          <a:lstStyle/>
          <a:p>
            <a:pPr marL="285750" indent="-285750" eaLnBrk="1" hangingPunct="1">
              <a:buFont typeface="Arial" panose="020B0604020202020204" pitchFamily="34" charset="0"/>
              <a:buChar char="•"/>
            </a:pPr>
            <a:r>
              <a:rPr lang="es-ES" sz="1600" b="1" dirty="0">
                <a:latin typeface="Arial" pitchFamily="34" charset="0"/>
              </a:rPr>
              <a:t>PLAZA GOYA</a:t>
            </a:r>
          </a:p>
          <a:p>
            <a:pPr marL="285750" indent="-285750" eaLnBrk="1" hangingPunct="1">
              <a:buFont typeface="Arial" panose="020B0604020202020204" pitchFamily="34" charset="0"/>
              <a:buChar char="•"/>
            </a:pPr>
            <a:r>
              <a:rPr lang="es-ES" sz="1600" b="1" dirty="0">
                <a:latin typeface="Arial" pitchFamily="34" charset="0"/>
              </a:rPr>
              <a:t>PLAZA DEL AYUNTAMIENTO</a:t>
            </a:r>
          </a:p>
        </p:txBody>
      </p:sp>
    </p:spTree>
    <p:extLst>
      <p:ext uri="{BB962C8B-B14F-4D97-AF65-F5344CB8AC3E}">
        <p14:creationId xmlns:p14="http://schemas.microsoft.com/office/powerpoint/2010/main" val="1632204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p:cNvSpPr>
            <a:spLocks noChangeArrowheads="1"/>
          </p:cNvSpPr>
          <p:nvPr/>
        </p:nvSpPr>
        <p:spPr bwMode="auto">
          <a:xfrm>
            <a:off x="333630" y="998604"/>
            <a:ext cx="57606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s-ES_tradnl" sz="3600" dirty="0"/>
              <a:t>Índice</a:t>
            </a:r>
            <a:endParaRPr lang="es-ES" sz="3600" dirty="0"/>
          </a:p>
        </p:txBody>
      </p:sp>
      <p:graphicFrame>
        <p:nvGraphicFramePr>
          <p:cNvPr id="5142" name="Group 22"/>
          <p:cNvGraphicFramePr>
            <a:graphicFrameLocks noGrp="1"/>
          </p:cNvGraphicFramePr>
          <p:nvPr>
            <p:extLst>
              <p:ext uri="{D42A27DB-BD31-4B8C-83A1-F6EECF244321}">
                <p14:modId xmlns:p14="http://schemas.microsoft.com/office/powerpoint/2010/main" val="1940720751"/>
              </p:ext>
            </p:extLst>
          </p:nvPr>
        </p:nvGraphicFramePr>
        <p:xfrm>
          <a:off x="471229" y="2136470"/>
          <a:ext cx="6048672" cy="5425440"/>
        </p:xfrm>
        <a:graphic>
          <a:graphicData uri="http://schemas.openxmlformats.org/drawingml/2006/table">
            <a:tbl>
              <a:tblPr>
                <a:tableStyleId>{ED083AE6-46FA-4A59-8FB0-9F97EB10719F}</a:tableStyleId>
              </a:tblPr>
              <a:tblGrid>
                <a:gridCol w="6048672">
                  <a:extLst>
                    <a:ext uri="{9D8B030D-6E8A-4147-A177-3AD203B41FA5}">
                      <a16:colId xmlns:a16="http://schemas.microsoft.com/office/drawing/2014/main" val="20000"/>
                    </a:ext>
                  </a:extLst>
                </a:gridCol>
              </a:tblGrid>
              <a:tr h="3192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600" u="none" strike="noStrike" kern="1200" cap="none" normalizeH="0" baseline="0" dirty="0">
                          <a:ln>
                            <a:noFill/>
                          </a:ln>
                          <a:solidFill>
                            <a:schemeClr val="tx1"/>
                          </a:solidFill>
                          <a:effectLst/>
                          <a:latin typeface="+mn-lt"/>
                          <a:ea typeface="+mn-ea"/>
                          <a:cs typeface="+mn-cs"/>
                        </a:rPr>
                        <a:t>1.- Definición y Declaraciones de Responsabilidad:</a:t>
                      </a: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274">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s-ES" sz="1600" u="none" strike="noStrike" kern="1200" cap="none" normalizeH="0" baseline="0" dirty="0">
                          <a:ln>
                            <a:noFill/>
                          </a:ln>
                          <a:solidFill>
                            <a:schemeClr val="tx1"/>
                          </a:solidFill>
                          <a:effectLst/>
                          <a:latin typeface="+mn-lt"/>
                          <a:ea typeface="+mn-ea"/>
                          <a:cs typeface="+mn-cs"/>
                        </a:rPr>
                        <a:t>2.- Programas De Mantenimiento</a:t>
                      </a: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0381156"/>
                  </a:ext>
                </a:extLst>
              </a:tr>
              <a:tr h="3192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600" u="none" strike="noStrike" kern="1200" cap="none" normalizeH="0" baseline="0" dirty="0">
                          <a:ln>
                            <a:noFill/>
                          </a:ln>
                          <a:solidFill>
                            <a:schemeClr val="tx1"/>
                          </a:solidFill>
                          <a:effectLst/>
                          <a:latin typeface="+mn-lt"/>
                          <a:ea typeface="+mn-ea"/>
                          <a:cs typeface="+mn-cs"/>
                        </a:rPr>
                        <a:t>3.- Registros de Mantenimiento de las Instalaciones</a:t>
                      </a: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984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sz="1600" u="none" strike="noStrike" kern="1200" cap="none" normalizeH="0" baseline="0" dirty="0">
                          <a:ln>
                            <a:noFill/>
                          </a:ln>
                          <a:solidFill>
                            <a:schemeClr val="tx1"/>
                          </a:solidFill>
                          <a:effectLst/>
                          <a:latin typeface="+mn-lt"/>
                          <a:ea typeface="+mn-ea"/>
                          <a:cs typeface="+mn-cs"/>
                        </a:rPr>
                        <a:t>4- Otros Registros:</a:t>
                      </a:r>
                      <a:br>
                        <a:rPr kumimoji="0" lang="es-ES_tradnl" sz="1600" u="none" strike="noStrike" kern="1200" cap="none" normalizeH="0" baseline="0" dirty="0">
                          <a:ln>
                            <a:noFill/>
                          </a:ln>
                          <a:solidFill>
                            <a:schemeClr val="tx1"/>
                          </a:solidFill>
                          <a:effectLst/>
                          <a:latin typeface="+mn-lt"/>
                          <a:ea typeface="+mn-ea"/>
                          <a:cs typeface="+mn-cs"/>
                        </a:rPr>
                      </a:br>
                      <a:r>
                        <a:rPr lang="es-ES_tradnl" sz="1400" kern="1200" dirty="0">
                          <a:solidFill>
                            <a:schemeClr val="tx1"/>
                          </a:solidFill>
                          <a:latin typeface="+mn-lt"/>
                          <a:ea typeface="+mn-ea"/>
                          <a:cs typeface="+mn-cs"/>
                        </a:rPr>
                        <a:t>Reg. Nº 6</a:t>
                      </a:r>
                      <a:r>
                        <a:rPr kumimoji="0" lang="es-ES_tradnl" sz="1600" u="none" strike="noStrike" kern="1200" cap="none" normalizeH="0" baseline="0" dirty="0">
                          <a:ln>
                            <a:noFill/>
                          </a:ln>
                          <a:solidFill>
                            <a:schemeClr val="tx1"/>
                          </a:solidFill>
                          <a:effectLst/>
                          <a:latin typeface="+mn-lt"/>
                          <a:ea typeface="+mn-ea"/>
                          <a:cs typeface="+mn-cs"/>
                        </a:rPr>
                        <a:t>. -</a:t>
                      </a:r>
                      <a:r>
                        <a:rPr lang="es-ES_tradnl" sz="1400" dirty="0"/>
                        <a:t>:Otras Operaciones De Mantenimiento. </a:t>
                      </a:r>
                    </a:p>
                    <a:p>
                      <a:pPr marL="0" marR="0" lvl="0" indent="0" algn="l" defTabSz="914400" rtl="0" eaLnBrk="1" fontAlgn="base" latinLnBrk="0" hangingPunct="1">
                        <a:lnSpc>
                          <a:spcPct val="100000"/>
                        </a:lnSpc>
                        <a:spcBef>
                          <a:spcPct val="20000"/>
                        </a:spcBef>
                        <a:spcAft>
                          <a:spcPct val="0"/>
                        </a:spcAft>
                        <a:buClrTx/>
                        <a:buSzTx/>
                        <a:buFontTx/>
                        <a:buNone/>
                        <a:tabLst/>
                      </a:pPr>
                      <a:r>
                        <a:rPr lang="es-ES_tradnl" sz="1400" dirty="0"/>
                        <a:t>Reg. Nº 7.- Paradas y Puestas en Marcha Técnicas. Incidencias y Medidas Adoptadas.</a:t>
                      </a:r>
                      <a:br>
                        <a:rPr lang="es-ES_tradnl" sz="1400" dirty="0"/>
                      </a:br>
                      <a:r>
                        <a:rPr lang="es-ES_tradnl" sz="1400" dirty="0"/>
                        <a:t>Reg. Nº 8. -: Mantenimiento de Equipos e Instalaciones</a:t>
                      </a:r>
                    </a:p>
                    <a:p>
                      <a:pPr marL="0" marR="0" lvl="0" indent="0" algn="l" defTabSz="914400" rtl="0" eaLnBrk="1" fontAlgn="base" latinLnBrk="0" hangingPunct="1">
                        <a:lnSpc>
                          <a:spcPct val="100000"/>
                        </a:lnSpc>
                        <a:spcBef>
                          <a:spcPct val="20000"/>
                        </a:spcBef>
                        <a:spcAft>
                          <a:spcPct val="0"/>
                        </a:spcAft>
                        <a:buClrTx/>
                        <a:buSzTx/>
                        <a:buFontTx/>
                        <a:buNone/>
                        <a:tabLst/>
                      </a:pPr>
                      <a:r>
                        <a:rPr lang="es-ES_tradnl" sz="1400" kern="1200" dirty="0">
                          <a:solidFill>
                            <a:schemeClr val="tx1"/>
                          </a:solidFill>
                          <a:latin typeface="+mn-lt"/>
                          <a:ea typeface="+mn-ea"/>
                          <a:cs typeface="+mn-cs"/>
                        </a:rPr>
                        <a:t>Reg.</a:t>
                      </a:r>
                      <a:r>
                        <a:rPr lang="es-ES_tradnl" sz="1400" kern="1200" baseline="0" dirty="0">
                          <a:solidFill>
                            <a:schemeClr val="tx1"/>
                          </a:solidFill>
                          <a:latin typeface="+mn-lt"/>
                          <a:ea typeface="+mn-ea"/>
                          <a:cs typeface="+mn-cs"/>
                        </a:rPr>
                        <a:t> Nº 9</a:t>
                      </a:r>
                      <a:r>
                        <a:rPr lang="es-ES_tradnl" sz="1400" kern="1200" dirty="0">
                          <a:solidFill>
                            <a:schemeClr val="tx1"/>
                          </a:solidFill>
                          <a:latin typeface="+mn-lt"/>
                          <a:ea typeface="+mn-ea"/>
                          <a:cs typeface="+mn-cs"/>
                        </a:rPr>
                        <a:t>.</a:t>
                      </a:r>
                      <a:r>
                        <a:rPr lang="es-ES_tradnl" sz="1400" kern="1200" baseline="0" dirty="0">
                          <a:solidFill>
                            <a:schemeClr val="tx1"/>
                          </a:solidFill>
                          <a:latin typeface="+mn-lt"/>
                          <a:ea typeface="+mn-ea"/>
                          <a:cs typeface="+mn-cs"/>
                        </a:rPr>
                        <a:t> -: </a:t>
                      </a:r>
                      <a:r>
                        <a:rPr lang="es-ES_tradnl" sz="1400" kern="1200" dirty="0">
                          <a:solidFill>
                            <a:schemeClr val="tx1"/>
                          </a:solidFill>
                          <a:latin typeface="+mn-lt"/>
                          <a:ea typeface="+mn-ea"/>
                          <a:cs typeface="+mn-cs"/>
                        </a:rPr>
                        <a:t>Revisi</a:t>
                      </a:r>
                      <a:r>
                        <a:rPr lang="es-ES" sz="1400" kern="1200" dirty="0">
                          <a:solidFill>
                            <a:schemeClr val="tx1"/>
                          </a:solidFill>
                          <a:latin typeface="+mn-lt"/>
                          <a:ea typeface="+mn-ea"/>
                          <a:cs typeface="+mn-cs"/>
                        </a:rPr>
                        <a:t>on Documental</a:t>
                      </a:r>
                      <a:endParaRPr lang="es-ES_tradnl" sz="1400" kern="1200" dirty="0">
                        <a:solidFill>
                          <a:schemeClr val="tx1"/>
                        </a:solidFill>
                        <a:latin typeface="+mn-lt"/>
                        <a:ea typeface="+mn-ea"/>
                        <a:cs typeface="+mn-cs"/>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2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s-ES" sz="1600" kern="1200" dirty="0">
                          <a:solidFill>
                            <a:schemeClr val="tx1"/>
                          </a:solidFill>
                          <a:latin typeface="+mn-lt"/>
                          <a:ea typeface="+mn-ea"/>
                          <a:cs typeface="+mn-cs"/>
                        </a:rPr>
                        <a:t>5.- Certificados de limpieza y desinfección</a:t>
                      </a: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3409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s-ES_tradnl" sz="1600" dirty="0"/>
                        <a:t>6. Cronogramas de Toma de Muestras</a:t>
                      </a:r>
                      <a:r>
                        <a:rPr lang="es-ES_tradnl" sz="1600" baseline="0" dirty="0"/>
                        <a:t> y </a:t>
                      </a:r>
                      <a:r>
                        <a:rPr lang="es-ES_tradnl" sz="1600" dirty="0"/>
                        <a:t>Boletines de Resultados Analíticos.</a:t>
                      </a:r>
                    </a:p>
                    <a:p>
                      <a:pPr marL="0" marR="0" lvl="0" indent="0" algn="l" defTabSz="914400" rtl="0" eaLnBrk="1" fontAlgn="base" latinLnBrk="0" hangingPunct="1">
                        <a:lnSpc>
                          <a:spcPct val="100000"/>
                        </a:lnSpc>
                        <a:spcBef>
                          <a:spcPct val="20000"/>
                        </a:spcBef>
                        <a:spcAft>
                          <a:spcPct val="0"/>
                        </a:spcAft>
                        <a:buClrTx/>
                        <a:buSzTx/>
                        <a:buFontTx/>
                        <a:buNone/>
                        <a:tabLst/>
                      </a:pPr>
                      <a:r>
                        <a:rPr lang="es-ES_tradnl" sz="1600" dirty="0"/>
                        <a:t>Medidas</a:t>
                      </a:r>
                      <a:r>
                        <a:rPr lang="es-ES_tradnl" sz="1600" baseline="0" dirty="0"/>
                        <a:t> a adoptar en el caso de Detección de </a:t>
                      </a:r>
                      <a:r>
                        <a:rPr lang="es-ES_tradnl" sz="1600" i="1" baseline="0" dirty="0"/>
                        <a:t>Legionella spp. </a:t>
                      </a:r>
                      <a:r>
                        <a:rPr lang="es-ES_tradnl" sz="1600" i="0" baseline="0" dirty="0"/>
                        <a:t>y</a:t>
                      </a:r>
                      <a:r>
                        <a:rPr lang="es-ES_tradnl" sz="1600" i="1" baseline="0" dirty="0"/>
                        <a:t> </a:t>
                      </a:r>
                      <a:r>
                        <a:rPr lang="es-ES_tradnl" sz="1600" kern="1200" dirty="0">
                          <a:solidFill>
                            <a:schemeClr val="tx1"/>
                          </a:solidFill>
                          <a:latin typeface="+mn-lt"/>
                          <a:ea typeface="+mn-ea"/>
                          <a:cs typeface="+mn-cs"/>
                        </a:rPr>
                        <a:t> Seguimiento de Positivos.</a:t>
                      </a:r>
                    </a:p>
                    <a:p>
                      <a:pPr marL="0" marR="0" lvl="0" indent="0" algn="l" defTabSz="914400" rtl="0" eaLnBrk="1" fontAlgn="base" latinLnBrk="0" hangingPunct="1">
                        <a:lnSpc>
                          <a:spcPct val="100000"/>
                        </a:lnSpc>
                        <a:spcBef>
                          <a:spcPct val="20000"/>
                        </a:spcBef>
                        <a:spcAft>
                          <a:spcPct val="0"/>
                        </a:spcAft>
                        <a:buClrTx/>
                        <a:buSzTx/>
                        <a:buFontTx/>
                        <a:buNone/>
                        <a:tabLst/>
                      </a:pPr>
                      <a:r>
                        <a:rPr lang="es-ES_tradnl" sz="1600" kern="1200" dirty="0">
                          <a:solidFill>
                            <a:schemeClr val="tx1"/>
                          </a:solidFill>
                          <a:latin typeface="+mn-lt"/>
                          <a:ea typeface="+mn-ea"/>
                          <a:cs typeface="+mn-cs"/>
                        </a:rPr>
                        <a:t>Certificados L+D en Caso de Detección</a:t>
                      </a:r>
                      <a:r>
                        <a:rPr lang="es-ES_tradnl" sz="1600" kern="1200" baseline="0" dirty="0">
                          <a:solidFill>
                            <a:schemeClr val="tx1"/>
                          </a:solidFill>
                          <a:latin typeface="+mn-lt"/>
                          <a:ea typeface="+mn-ea"/>
                          <a:cs typeface="+mn-cs"/>
                        </a:rPr>
                        <a:t> de </a:t>
                      </a:r>
                      <a:r>
                        <a:rPr lang="es-ES_tradnl" sz="1600" i="1" kern="1200" baseline="0" dirty="0">
                          <a:solidFill>
                            <a:schemeClr val="tx1"/>
                          </a:solidFill>
                          <a:latin typeface="+mn-lt"/>
                          <a:ea typeface="+mn-ea"/>
                          <a:cs typeface="+mn-cs"/>
                        </a:rPr>
                        <a:t>Legionella spp </a:t>
                      </a:r>
                      <a:r>
                        <a:rPr lang="es-ES_tradnl" sz="1600" i="0" kern="1200" baseline="0" dirty="0">
                          <a:solidFill>
                            <a:schemeClr val="tx1"/>
                          </a:solidFill>
                          <a:latin typeface="+mn-lt"/>
                          <a:ea typeface="+mn-ea"/>
                          <a:cs typeface="+mn-cs"/>
                        </a:rPr>
                        <a:t>o Aerobios Totales.</a:t>
                      </a:r>
                      <a:endParaRPr lang="es-ES" sz="1600" i="0" kern="1200" baseline="0" dirty="0">
                        <a:solidFill>
                          <a:schemeClr val="tx1"/>
                        </a:solidFill>
                        <a:latin typeface="+mn-lt"/>
                        <a:ea typeface="+mn-ea"/>
                        <a:cs typeface="+mn-cs"/>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192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600" u="none" strike="noStrike" cap="none" normalizeH="0" baseline="0" dirty="0">
                          <a:ln>
                            <a:noFill/>
                          </a:ln>
                          <a:effectLst/>
                        </a:rPr>
                        <a:t>7.- Actas de Inspección Sanitarias</a:t>
                      </a:r>
                      <a:endParaRPr kumimoji="0" lang="es-ES" sz="1600" b="0" i="0" u="none" strike="noStrike" cap="none" normalizeH="0" baseline="0" dirty="0">
                        <a:ln>
                          <a:noFill/>
                        </a:ln>
                        <a:solidFill>
                          <a:schemeClr val="tx1"/>
                        </a:solidFill>
                        <a:effectLst/>
                        <a:latin typeface="Arial" charset="0"/>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29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600" u="none" strike="noStrike" cap="none" normalizeH="0" baseline="0" dirty="0">
                          <a:ln>
                            <a:noFill/>
                          </a:ln>
                          <a:effectLst/>
                        </a:rPr>
                        <a:t>8.- </a:t>
                      </a:r>
                      <a:r>
                        <a:rPr lang="es-ES" sz="1600" dirty="0"/>
                        <a:t>Partes de Trabajo MENSUALES y Deficiencias Técnicas Detectadas por Sanisur.</a:t>
                      </a:r>
                      <a:endParaRPr kumimoji="0" lang="es-ES" sz="1600" b="0" i="0" u="none" strike="noStrike" cap="none" normalizeH="0" baseline="0" dirty="0">
                        <a:ln>
                          <a:noFill/>
                        </a:ln>
                        <a:solidFill>
                          <a:schemeClr val="tx1"/>
                        </a:solidFill>
                        <a:effectLst/>
                        <a:latin typeface="Arial" charset="0"/>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74692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92696" y="2864768"/>
            <a:ext cx="5832648" cy="2664296"/>
          </a:xfrm>
          <a:noFill/>
          <a:effectLst>
            <a:prstShdw prst="shdw15">
              <a:schemeClr val="bg2"/>
            </a:prstShdw>
          </a:effectLst>
        </p:spPr>
        <p:txBody>
          <a:bodyPr/>
          <a:lstStyle/>
          <a:p>
            <a:pPr algn="ctr" eaLnBrk="1" hangingPunct="1"/>
            <a:r>
              <a:rPr lang="es-ES_tradnl" sz="3600" dirty="0"/>
              <a:t>1.-Definición y Declaración de Responsabilidades</a:t>
            </a:r>
            <a:endParaRPr lang="es-ES" sz="3600" dirty="0"/>
          </a:p>
        </p:txBody>
      </p:sp>
    </p:spTree>
    <p:extLst>
      <p:ext uri="{BB962C8B-B14F-4D97-AF65-F5344CB8AC3E}">
        <p14:creationId xmlns:p14="http://schemas.microsoft.com/office/powerpoint/2010/main" val="120371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9060" y="528430"/>
            <a:ext cx="6758940" cy="6918817"/>
          </a:xfrm>
          <a:prstGeom prst="rect">
            <a:avLst/>
          </a:prstGeom>
        </p:spPr>
        <p:txBody>
          <a:bodyPr wrap="square">
            <a:spAutoFit/>
          </a:bodyPr>
          <a:lstStyle/>
          <a:p>
            <a:pPr indent="266700" algn="just">
              <a:lnSpc>
                <a:spcPct val="110000"/>
              </a:lnSpc>
              <a:spcBef>
                <a:spcPct val="20000"/>
              </a:spcBef>
              <a:buClr>
                <a:schemeClr val="bg2"/>
              </a:buClr>
              <a:buFont typeface="Wingdings" pitchFamily="2" charset="2"/>
              <a:buNone/>
              <a:defRPr/>
            </a:pPr>
            <a:r>
              <a:rPr lang="es-ES_tradnl" sz="1100" dirty="0">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DEFINICIÓN de Responsabilidades.</a:t>
            </a:r>
          </a:p>
          <a:p>
            <a:pPr indent="269875" algn="just">
              <a:lnSpc>
                <a:spcPct val="110000"/>
              </a:lnSpc>
              <a:spcBef>
                <a:spcPct val="20000"/>
              </a:spcBef>
              <a:buClr>
                <a:schemeClr val="bg2"/>
              </a:buClr>
              <a:buFont typeface="Wingdings" pitchFamily="2" charset="2"/>
              <a:buNone/>
              <a:defRPr/>
            </a:pPr>
            <a:r>
              <a:rPr lang="es-ES" sz="1400" b="1" dirty="0">
                <a:latin typeface="Arial" panose="020B0604020202020204" pitchFamily="34" charset="0"/>
                <a:cs typeface="Arial" panose="020B0604020202020204" pitchFamily="34" charset="0"/>
              </a:rPr>
              <a:t>TITULAR DE LA INSTALACIÓN</a:t>
            </a:r>
            <a:r>
              <a:rPr lang="es-ES_tradnl" sz="1400" b="1" dirty="0">
                <a:latin typeface="Arial" pitchFamily="34" charset="0"/>
                <a:cs typeface="Arial" pitchFamily="34" charset="0"/>
              </a:rPr>
              <a:t>:</a:t>
            </a:r>
          </a:p>
          <a:p>
            <a:pPr indent="268288" algn="just"/>
            <a:r>
              <a:rPr lang="es-ES_tradnl" sz="1100" dirty="0">
                <a:latin typeface="Arial" pitchFamily="34" charset="0"/>
                <a:cs typeface="Arial" pitchFamily="34" charset="0"/>
              </a:rPr>
              <a:t>Persona física o jurídica pública o privada  que sea </a:t>
            </a:r>
            <a:r>
              <a:rPr lang="es-ES_tradnl" sz="1100" b="1" dirty="0">
                <a:latin typeface="Arial" pitchFamily="34" charset="0"/>
                <a:cs typeface="Arial" pitchFamily="34" charset="0"/>
              </a:rPr>
              <a:t>propietaria</a:t>
            </a:r>
            <a:r>
              <a:rPr lang="es-ES_tradnl" sz="1100" dirty="0">
                <a:latin typeface="Arial" pitchFamily="34" charset="0"/>
                <a:cs typeface="Arial" pitchFamily="34" charset="0"/>
              </a:rPr>
              <a:t> de esta instalación responsable </a:t>
            </a:r>
            <a:r>
              <a:rPr lang="es-ES" sz="1100" dirty="0">
                <a:latin typeface="Arial" pitchFamily="34" charset="0"/>
                <a:cs typeface="Arial" pitchFamily="34" charset="0"/>
              </a:rPr>
              <a:t>del cumplimiento de TODO lo dispuesto en el R. D. 487/2022 de 21 de junio, por el que se establecen los requisitos sanitarios para la prevención y el control de la legionelosis. En el caso de que la instalación sea explotada por persona física o jurídica distinta de la titular de la instalación, a efectos del cumplimiento de las responsabilidades y obligaciones del presente real decreto, la persona titular de la instalación será considerada como la responsable del cumplimiento del mismo. La contratación de la realización, total o parcial, de las actividades contempladas en el mencionado real decreto con un servicio externo, no exime a la persona titular de la instalación de su responsabilidad de garantizar que las instalaciones no representen un riesgo para la salud pública tanto de los usuarios de su instalación como de la de sus trabajadores.</a:t>
            </a:r>
            <a:r>
              <a:rPr lang="es-ES" sz="1100" dirty="0"/>
              <a:t> </a:t>
            </a:r>
            <a:r>
              <a:rPr lang="es-ES" sz="1100" dirty="0">
                <a:latin typeface="Arial" pitchFamily="34" charset="0"/>
                <a:cs typeface="Arial" pitchFamily="34" charset="0"/>
              </a:rPr>
              <a:t>Por lo tanto es el responsable de que se lleven a cabo los programas de mantenimiento periódico, las mejoras estructurales y funcionales de las instalaciones, así como del control de la calidad microbiológica y físico-química del agua, con el fin de que no representen un riesgo para la salud pública debiendo evitar modificaciones de la calidad del agua de consumo humano desde la acometida hasta el grifo o que las que haga vayan encaminadas a minimizar la presencia, proliferación o dispersión de la Legionella. </a:t>
            </a:r>
          </a:p>
          <a:p>
            <a:pPr indent="268288" algn="just"/>
            <a:r>
              <a:rPr lang="es-ES" sz="1100" dirty="0">
                <a:latin typeface="Arial" panose="020B0604020202020204" pitchFamily="34" charset="0"/>
                <a:cs typeface="Arial" panose="020B0604020202020204" pitchFamily="34" charset="0"/>
              </a:rPr>
              <a:t>De la misma forma la persona titular de las instalaciones previstas en el punto</a:t>
            </a:r>
            <a:r>
              <a:rPr lang="es-ES" sz="1100" dirty="0"/>
              <a:t> </a:t>
            </a:r>
            <a:r>
              <a:rPr lang="es-ES" sz="1100" dirty="0">
                <a:latin typeface="Arial" panose="020B0604020202020204" pitchFamily="34" charset="0"/>
                <a:cs typeface="Arial" panose="020B0604020202020204" pitchFamily="34" charset="0"/>
              </a:rPr>
              <a:t>1 del artículo 3 del presente R.D. estarán obligadas a  elaborar un Plan de Prevención y Control de la Legionella (PPCL) o un Plan Sanitario frente a la Legionella (PSL) en ambos casos adaptados a las particularidades y características de su instalación.  </a:t>
            </a:r>
          </a:p>
          <a:p>
            <a:pPr indent="268288" algn="just"/>
            <a:r>
              <a:rPr lang="es-ES" sz="1100" dirty="0"/>
              <a:t>Esto último puede delegarlo sobre el </a:t>
            </a:r>
            <a:r>
              <a:rPr lang="es-ES_tradnl" sz="1100" b="1" cap="all" dirty="0">
                <a:latin typeface="Arial" pitchFamily="34" charset="0"/>
                <a:cs typeface="Arial" pitchFamily="34" charset="0"/>
              </a:rPr>
              <a:t>Responsable técnico PROPIO de la Instalación</a:t>
            </a:r>
            <a:r>
              <a:rPr lang="es-ES_tradnl" sz="1100" dirty="0">
                <a:latin typeface="Arial" pitchFamily="34" charset="0"/>
                <a:cs typeface="Arial" pitchFamily="34" charset="0"/>
              </a:rPr>
              <a:t>: Persona Física con capacitación y conocimientos de la instalación suficientemente íntimos como para entender el alcance de las posibles deficiencias que se le planteen así como las consecuencias de las mismas. Su responsabilidad será la de tener conocimiento y solventar a la mayor brevedad posible todas las deficiencias que surjan o que le comuniquen tanto su personal interno como el externo y que supongan riesgo para la salud de los trabajadores. Será su responsabilidad la de advertir a todo el personal implicado de que se le comuniquen dichas deficiencias. Deberá comunicar a la mayor brevedad posible a la empresa de mantenimiento externa todas las modificaciones estructurales o de planos o instalación de nuevos componentes o reorganización de los mismos. Modificaciones organizativas o del tipo que sean y que tengan relación con la prevención y control de la Legionelosis en su instalación. Deberá coordinar a todo el personal interno y a las entidades externas implicadas en el mantenimiento de las instalaciones para la prevención y control de la Legionelosis y a sus trabajos o actuaciones por lo tanto deberá tener conocimiento, en todo momento, del resultado de las mismas. </a:t>
            </a:r>
            <a:r>
              <a:rPr lang="es-ES_tradnl" sz="1100" b="1" dirty="0">
                <a:latin typeface="Arial" pitchFamily="34" charset="0"/>
                <a:cs typeface="Arial" pitchFamily="34" charset="0"/>
              </a:rPr>
              <a:t>Ninguna de sus responsabilidades podrá delegarlas sobre nadie</a:t>
            </a:r>
            <a:r>
              <a:rPr lang="es-ES_tradnl" sz="1100" dirty="0">
                <a:latin typeface="Arial" pitchFamily="34" charset="0"/>
                <a:cs typeface="Arial" pitchFamily="34" charset="0"/>
              </a:rPr>
              <a:t>; ni personal interno ni empresas externas contratadas. Será su entera responsabilidad si no resuelve las deficiencias detectadas de forma inmediata o no comunica al titular la existencia de las mismas y su posible solución siempre y cuando su resolución dependa de la autorización expresa del titular. </a:t>
            </a:r>
          </a:p>
          <a:p>
            <a:pPr indent="268288" algn="just"/>
            <a:endParaRPr lang="es-E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800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txBox="1">
            <a:spLocks noChangeArrowheads="1"/>
          </p:cNvSpPr>
          <p:nvPr/>
        </p:nvSpPr>
        <p:spPr bwMode="auto">
          <a:xfrm>
            <a:off x="260647" y="524864"/>
            <a:ext cx="6524923" cy="6228336"/>
          </a:xfrm>
          <a:prstGeom prst="rect">
            <a:avLst/>
          </a:prstGeom>
          <a:noFill/>
          <a:ln w="9525">
            <a:noFill/>
            <a:miter lim="800000"/>
            <a:headEnd/>
            <a:tailEnd/>
          </a:ln>
        </p:spPr>
        <p:txBody>
          <a:bodyPr/>
          <a:lstStyle/>
          <a:p>
            <a:pPr algn="just"/>
            <a:r>
              <a:rPr lang="es-ES_tradnl" sz="1400" b="1" cap="all" dirty="0">
                <a:latin typeface="Arial" pitchFamily="34" charset="0"/>
                <a:cs typeface="Arial" pitchFamily="34" charset="0"/>
              </a:rPr>
              <a:t>Empresas proveedoras externas</a:t>
            </a:r>
            <a:r>
              <a:rPr lang="es-ES_tradnl" sz="1400" dirty="0">
                <a:latin typeface="Arial" pitchFamily="34" charset="0"/>
                <a:cs typeface="Arial" pitchFamily="34" charset="0"/>
              </a:rPr>
              <a:t>. Se responsabilizarán de realizar los trabajos que les son asignados; colores azul y rojo de los programas de mantenimiento, de forma veraz y profesional.  Serán responsables de comunicar  de forma inmediata al responsable técnico de la instalación las deficiencias que se detecten durante la realización de dichos trabajos así como advertir de las consecuencias que suponen dichas deficiencias y la no resolución de las mismas. Una vez comunicadas las deficiencias detectadas al responsable técnico de la instalación se eximen de toda responsabilidad. </a:t>
            </a:r>
            <a:r>
              <a:rPr lang="es-ES_tradnl" sz="1400" b="1" dirty="0">
                <a:latin typeface="Arial" pitchFamily="34" charset="0"/>
                <a:cs typeface="Arial" pitchFamily="34" charset="0"/>
              </a:rPr>
              <a:t>NO ES SU RESPONSABILIDAD, EN NINGÚN CASO, EL QUE SE RESUELVAN O NO LAS DEFICIENCIAS QUE PREVIAMENTE HAN COMUNICADO NI EL SEGUIMIENTO DE LAS MISMAS</a:t>
            </a:r>
            <a:r>
              <a:rPr lang="es-ES_tradnl" sz="1400" dirty="0">
                <a:latin typeface="Arial" pitchFamily="34" charset="0"/>
                <a:cs typeface="Arial" pitchFamily="34" charset="0"/>
              </a:rPr>
              <a:t>. </a:t>
            </a:r>
            <a:r>
              <a:rPr lang="es-ES_tradnl" sz="1400" b="1" dirty="0">
                <a:latin typeface="Arial" pitchFamily="34" charset="0"/>
                <a:cs typeface="Arial" pitchFamily="34" charset="0"/>
              </a:rPr>
              <a:t>ESTO NO ENTRA DENTRO DE SUS COMPETENCIAS.  </a:t>
            </a:r>
            <a:r>
              <a:rPr lang="es-ES_tradnl" sz="1400" dirty="0">
                <a:latin typeface="Arial" pitchFamily="34" charset="0"/>
                <a:cs typeface="Arial" pitchFamily="34" charset="0"/>
              </a:rPr>
              <a:t>Si estas persisten en sus próximas visitas serán responsables de volver a comunicarlas. </a:t>
            </a:r>
          </a:p>
          <a:p>
            <a:pPr algn="just"/>
            <a:r>
              <a:rPr lang="es-ES_tradnl" sz="1400" dirty="0">
                <a:latin typeface="Arial" pitchFamily="34" charset="0"/>
                <a:cs typeface="Arial" pitchFamily="34" charset="0"/>
              </a:rPr>
              <a:t> </a:t>
            </a:r>
            <a:r>
              <a:rPr lang="es-ES_tradnl" sz="1200" b="1" cap="all" dirty="0">
                <a:latin typeface="Arial" pitchFamily="34" charset="0"/>
                <a:cs typeface="Arial" pitchFamily="34" charset="0"/>
              </a:rPr>
              <a:t>Responsable Técnico de la empresa externa contratada: </a:t>
            </a:r>
            <a:r>
              <a:rPr lang="es-ES" sz="1200" dirty="0">
                <a:latin typeface="Arial" panose="020B0604020202020204" pitchFamily="34" charset="0"/>
                <a:ea typeface="Noto Sans Symbols"/>
                <a:cs typeface="Noto Sans Symbols"/>
              </a:rPr>
              <a:t>Contará con la formación y los conocimientos suficientes  para desempeñar su labor y en su caso lo establecido en el articulo 5 del R D 830/2010, de 25 de junio , por el que se establece la normativa reguladora de la capacitación para realizar tratamientos con biocidas estando en  posesión</a:t>
            </a:r>
            <a:r>
              <a:rPr lang="es-ES" sz="1200" dirty="0"/>
              <a:t> </a:t>
            </a:r>
            <a:r>
              <a:rPr lang="es-ES" sz="1200" dirty="0">
                <a:latin typeface="Arial" panose="020B0604020202020204" pitchFamily="34" charset="0"/>
                <a:ea typeface="Noto Sans Symbols"/>
                <a:cs typeface="Noto Sans Symbols"/>
              </a:rPr>
              <a:t>de la cualificación profesional relativa al mantenimiento higiénico-sanitario de instalaciones susceptibles de proliferación de Legionella y otros organismos nocivos y su diseminación por aerosolización (SEA492_2), recogida en el Real Decreto 1223/2010, de 1 de octubre, por el que se complementa el Catálogo Nacional de Cualificaciones Profesionales. Velará por que todo el personal a su cargo cuente con la formación requerida a la actividad que desempeñe. Llevará a cabo correctamente las tareas para las que han sido contratadas por el titular de la instalación para el control de la Legionelosis. Dichas tareas las llevarán a cabo de forma profesional actualizando todos los registros y actuaciones que se les hayan encomendado de forma veraz y en tiempo quedando todos los registros al día y a disposición de la autoridad sanitaria que podrá solicitarlos cuando lo estime oportuno.  Comunicará de forma inmediata al titular de la Instalación para que así las lleven a cabo, las mejoras estructurales y funcionales de las instalaciones, así como las incidencias y/o deficiencias que aparezcan en el control de la calidad microbiológica o físico-química del agua, con el fin de que no representen un riesgo para la salud pública </a:t>
            </a:r>
            <a:endParaRPr lang="es-ES_tradnl" sz="1200" dirty="0">
              <a:cs typeface="Arial" charset="0"/>
            </a:endParaRPr>
          </a:p>
          <a:p>
            <a:pPr algn="just"/>
            <a:endParaRPr lang="es-ES" sz="1400" b="1" cap="all" dirty="0"/>
          </a:p>
          <a:p>
            <a:pPr algn="just"/>
            <a:endParaRPr lang="es-ES_tradnl" sz="1400" dirty="0">
              <a:cs typeface="Arial" charset="0"/>
            </a:endParaRPr>
          </a:p>
          <a:p>
            <a:pPr algn="just"/>
            <a:r>
              <a:rPr lang="es-ES_tradnl" sz="1400" b="1" cap="all" dirty="0">
                <a:latin typeface="Arial" pitchFamily="34" charset="0"/>
                <a:cs typeface="Arial" pitchFamily="34" charset="0"/>
              </a:rPr>
              <a:t>OPERARIOS PERSONAL EXTERNO</a:t>
            </a:r>
            <a:r>
              <a:rPr lang="es-ES_tradnl" sz="1400" dirty="0">
                <a:latin typeface="Arial" pitchFamily="34" charset="0"/>
                <a:cs typeface="Arial" pitchFamily="34" charset="0"/>
              </a:rPr>
              <a:t>: </a:t>
            </a:r>
            <a:r>
              <a:rPr lang="es-ES_tradnl" sz="1200" dirty="0">
                <a:latin typeface="Arial" pitchFamily="34" charset="0"/>
                <a:cs typeface="Arial" pitchFamily="34" charset="0"/>
              </a:rPr>
              <a:t>Se responsabilizarán de llevar a cabo los controles periódicos especificados en los programas de mantenimiento que le sean asignados de forma veraz y profesional comunicando de forma inmediata a su responsable técnico  las posibles deficiencias que detecte quien actuará consecuentemente. Será su entera responsabilidad si no comunica dichas deficiencias a la mayor brevedad posible. Una vez comunicada esta, quedará eximido de toda responsabilidad. </a:t>
            </a:r>
          </a:p>
        </p:txBody>
      </p:sp>
    </p:spTree>
    <p:extLst>
      <p:ext uri="{BB962C8B-B14F-4D97-AF65-F5344CB8AC3E}">
        <p14:creationId xmlns:p14="http://schemas.microsoft.com/office/powerpoint/2010/main" val="3534853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32656" y="920552"/>
            <a:ext cx="6192688" cy="8523872"/>
          </a:xfrm>
          <a:prstGeom prst="rect">
            <a:avLst/>
          </a:prstGeom>
        </p:spPr>
        <p:txBody>
          <a:bodyPr wrap="square">
            <a:spAutoFit/>
          </a:bodyPr>
          <a:lstStyle/>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Yo D.___________________________________________, con DNI ______________________ como </a:t>
            </a:r>
            <a:r>
              <a:rPr lang="es-ES" sz="1400" b="1" dirty="0">
                <a:solidFill>
                  <a:srgbClr val="000000"/>
                </a:solidFill>
                <a:latin typeface="Arial" panose="020B0604020202020204" pitchFamily="34" charset="0"/>
                <a:ea typeface="Times New Roman" panose="02020603050405020304" pitchFamily="18" charset="0"/>
              </a:rPr>
              <a:t>TITULAR</a:t>
            </a:r>
            <a:r>
              <a:rPr lang="es-ES" sz="1400" dirty="0">
                <a:solidFill>
                  <a:srgbClr val="000000"/>
                </a:solidFill>
                <a:latin typeface="Arial" panose="020B0604020202020204" pitchFamily="34" charset="0"/>
                <a:ea typeface="Times New Roman" panose="02020603050405020304" pitchFamily="18" charset="0"/>
              </a:rPr>
              <a:t> </a:t>
            </a:r>
            <a:r>
              <a:rPr lang="es-ES" sz="1400" b="1" cap="all" dirty="0">
                <a:solidFill>
                  <a:srgbClr val="000000"/>
                </a:solidFill>
                <a:latin typeface="Arial" panose="020B0604020202020204" pitchFamily="34" charset="0"/>
                <a:ea typeface="Times New Roman" panose="02020603050405020304" pitchFamily="18" charset="0"/>
              </a:rPr>
              <a:t>de las instalaciones </a:t>
            </a:r>
            <a:r>
              <a:rPr lang="es-ES" sz="1100" dirty="0">
                <a:solidFill>
                  <a:srgbClr val="000000"/>
                </a:solidFill>
                <a:latin typeface="Arial" panose="020B0604020202020204" pitchFamily="34" charset="0"/>
                <a:ea typeface="Times New Roman" panose="02020603050405020304" pitchFamily="18" charset="0"/>
              </a:rPr>
              <a:t>en nombre propio </a:t>
            </a:r>
            <a:r>
              <a:rPr lang="es-ES" sz="1400" b="1" dirty="0">
                <a:solidFill>
                  <a:srgbClr val="000000"/>
                </a:solidFill>
                <a:latin typeface="Arial" panose="020B0604020202020204" pitchFamily="34" charset="0"/>
                <a:ea typeface="Times New Roman" panose="02020603050405020304" pitchFamily="18" charset="0"/>
              </a:rPr>
              <a:t>DECLARO BAJO MI RESPONSABILIDAD</a:t>
            </a:r>
            <a:r>
              <a:rPr lang="es-ES" sz="1400" dirty="0">
                <a:solidFill>
                  <a:srgbClr val="000000"/>
                </a:solidFill>
                <a:latin typeface="Arial" panose="020B0604020202020204" pitchFamily="34" charset="0"/>
                <a:ea typeface="Times New Roman" panose="02020603050405020304" pitchFamily="18" charset="0"/>
              </a:rPr>
              <a:t> </a:t>
            </a:r>
            <a:r>
              <a:rPr lang="es-ES" sz="1100" dirty="0">
                <a:solidFill>
                  <a:srgbClr val="000000"/>
                </a:solidFill>
                <a:latin typeface="Arial" panose="020B0604020202020204" pitchFamily="34" charset="0"/>
                <a:ea typeface="Times New Roman" panose="02020603050405020304" pitchFamily="18" charset="0"/>
              </a:rPr>
              <a:t>todo lo que a continuación sigue: </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marL="34290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Me hago enteramente responsable del cumplimiento de todas las obligaciones exigidas en el </a:t>
            </a:r>
            <a:r>
              <a:rPr lang="es-ES" sz="1100" dirty="0">
                <a:solidFill>
                  <a:srgbClr val="000000"/>
                </a:solidFill>
                <a:latin typeface="Arial" panose="020B0604020202020204" pitchFamily="34" charset="0"/>
                <a:ea typeface="Times New Roman" panose="02020603050405020304" pitchFamily="18" charset="0"/>
              </a:rPr>
              <a:t>R. D. 487/2022, de 21 de junio por el que se establecen los requisitos sanitarios para la prevención y el control de la legionelosis. </a:t>
            </a:r>
          </a:p>
          <a:p>
            <a:pPr marL="34290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Declaro que toda la información incluida en el Programa de Prevención y Control de la Legionella cumple con los requisitos establecidos en dicha legislación. Declaro que es mi responsabilidad garantizar que las instalaciones no representen un riesgo para la salud pública quedando obligado a controlar y prevenir la aparición y/o proliferación de Legionella en las instalaciones mencionadas en este Programa de Prevención y control de la Legionella.</a:t>
            </a:r>
            <a:endParaRPr lang="es-ES" sz="1100" dirty="0">
              <a:solidFill>
                <a:srgbClr val="000000"/>
              </a:solidFill>
              <a:latin typeface="Times New Roman" panose="02020603050405020304" pitchFamily="18" charset="0"/>
              <a:ea typeface="Times New Roman" panose="02020603050405020304" pitchFamily="18" charset="0"/>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Declaro que en cuanto a prevención y control de la Legionella se refiere </a:t>
            </a:r>
            <a:r>
              <a:rPr lang="es-ES" sz="1100" dirty="0">
                <a:latin typeface="Arial" panose="020B0604020202020204" pitchFamily="34" charset="0"/>
                <a:ea typeface="Times New Roman" panose="02020603050405020304" pitchFamily="18" charset="0"/>
              </a:rPr>
              <a:t>a</a:t>
            </a:r>
            <a:r>
              <a:rPr lang="es-ES" sz="1100" dirty="0">
                <a:latin typeface="Arial" panose="020B0604020202020204" pitchFamily="34" charset="0"/>
                <a:ea typeface="Noto Sans Symbols"/>
                <a:cs typeface="Noto Sans Symbols"/>
              </a:rPr>
              <a:t>cataremos y resolveremos de forma inmediata </a:t>
            </a:r>
            <a:r>
              <a:rPr lang="es-ES" sz="1100" dirty="0">
                <a:solidFill>
                  <a:srgbClr val="000000"/>
                </a:solidFill>
                <a:latin typeface="Arial" panose="020B0604020202020204" pitchFamily="34" charset="0"/>
                <a:ea typeface="Times New Roman" panose="02020603050405020304" pitchFamily="18" charset="0"/>
              </a:rPr>
              <a:t>todas las incidencias, deficiencias y/o defectos estructurales que sean detectadas y se nos comuniquen en todas y cada una de las instalaciones contratadas a la empresa externa y </a:t>
            </a:r>
            <a:r>
              <a:rPr lang="es-ES" sz="1100" dirty="0">
                <a:latin typeface="Arial" panose="020B0604020202020204" pitchFamily="34" charset="0"/>
                <a:ea typeface="Noto Sans Symbols"/>
                <a:cs typeface="Noto Sans Symbols"/>
              </a:rPr>
              <a:t>que supongan un incremento del riesgo de aparición de Legionella. </a:t>
            </a:r>
            <a:endParaRPr lang="es-ES" sz="1100" dirty="0">
              <a:solidFill>
                <a:srgbClr val="000000"/>
              </a:solidFill>
              <a:latin typeface="Arial" panose="020B0604020202020204" pitchFamily="34" charset="0"/>
              <a:ea typeface="Times New Roman" panose="02020603050405020304" pitchFamily="18" charset="0"/>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Declaro que llevaremos a cabo todos los registros y actuaciones indicadas en los programas de mantenimiento periódico propuestos por la empresa externa contratada para la realización de las tareas encaminadas a la prevención y control de la Legionella, que se cumplimentarán de forma veraz y en tiempo estando todos nuestros registros al día y a entera disposición de la autoridad sanitaria que los solicite.</a:t>
            </a:r>
            <a:endParaRPr lang="es-ES" sz="11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Declaro que se llevarán a cabo, las mejoras estructurales y funcionales de las instalaciones, así como del control de la calidad microbiológica y físico-química del agua, con el fin de que no representen un riesgo para la salud pública evitando modificaciones de la calidad del agua que vayan encaminadas a incrementar la presencia, proliferación o dispersión de la Legionella. </a:t>
            </a:r>
          </a:p>
          <a:p>
            <a:pPr lvl="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lang="es-ES" sz="1100" dirty="0">
              <a:latin typeface="Noto Sans Symbols"/>
              <a:ea typeface="Noto Sans Symbols"/>
              <a:cs typeface="Noto Sans Symbols"/>
            </a:endParaRPr>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rPr>
              <a:t>Para que así conste lo firmo en </a:t>
            </a:r>
            <a:endParaRPr lang="es-ES" sz="1100" dirty="0"/>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SALOBREÑA  a      de       de 2023.</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Fdo. _________________________________</a:t>
            </a:r>
            <a:endParaRPr lang="es-ES" sz="1100" dirty="0">
              <a:solidFill>
                <a:srgbClr val="000000"/>
              </a:solidFill>
              <a:latin typeface="Times New Roman" panose="02020603050405020304" pitchFamily="18" charset="0"/>
              <a:ea typeface="Times New Roman" panose="02020603050405020304" pitchFamily="18" charset="0"/>
            </a:endParaRPr>
          </a:p>
          <a:p>
            <a:pPr>
              <a:spcAft>
                <a:spcPts val="0"/>
              </a:spcAft>
            </a:pPr>
            <a:r>
              <a:rPr lang="es-ES" sz="1100" dirty="0">
                <a:solidFill>
                  <a:srgbClr val="000000"/>
                </a:solidFill>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595765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32656" y="920552"/>
            <a:ext cx="6192688" cy="7863691"/>
          </a:xfrm>
          <a:prstGeom prst="rect">
            <a:avLst/>
          </a:prstGeom>
        </p:spPr>
        <p:txBody>
          <a:bodyPr wrap="square">
            <a:spAutoFit/>
          </a:bodyPr>
          <a:lstStyle/>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Yo D.___________________________________________, con DNI ______________________ como </a:t>
            </a:r>
            <a:r>
              <a:rPr lang="es-ES" sz="1400" b="1" dirty="0">
                <a:solidFill>
                  <a:srgbClr val="000000"/>
                </a:solidFill>
                <a:latin typeface="Arial" panose="020B0604020202020204" pitchFamily="34" charset="0"/>
                <a:ea typeface="Times New Roman" panose="02020603050405020304" pitchFamily="18" charset="0"/>
              </a:rPr>
              <a:t>RESPONSABLE TÉCNICO</a:t>
            </a:r>
            <a:r>
              <a:rPr lang="es-ES" sz="1400" dirty="0">
                <a:solidFill>
                  <a:srgbClr val="000000"/>
                </a:solidFill>
                <a:latin typeface="Arial" panose="020B0604020202020204" pitchFamily="34" charset="0"/>
                <a:ea typeface="Times New Roman" panose="02020603050405020304" pitchFamily="18" charset="0"/>
              </a:rPr>
              <a:t> </a:t>
            </a:r>
            <a:r>
              <a:rPr lang="es-ES" sz="1400" b="1" dirty="0">
                <a:solidFill>
                  <a:srgbClr val="000000"/>
                </a:solidFill>
                <a:latin typeface="Arial" panose="020B0604020202020204" pitchFamily="34" charset="0"/>
                <a:ea typeface="Times New Roman" panose="02020603050405020304" pitchFamily="18" charset="0"/>
              </a:rPr>
              <a:t>PROPIO</a:t>
            </a:r>
            <a:r>
              <a:rPr lang="es-ES" sz="1400" dirty="0">
                <a:solidFill>
                  <a:srgbClr val="000000"/>
                </a:solidFill>
                <a:latin typeface="Arial" panose="020B0604020202020204" pitchFamily="34" charset="0"/>
                <a:ea typeface="Times New Roman" panose="02020603050405020304" pitchFamily="18" charset="0"/>
              </a:rPr>
              <a:t> </a:t>
            </a:r>
            <a:r>
              <a:rPr lang="es-ES" sz="1400" b="1" cap="all" dirty="0">
                <a:solidFill>
                  <a:srgbClr val="000000"/>
                </a:solidFill>
                <a:latin typeface="Arial" panose="020B0604020202020204" pitchFamily="34" charset="0"/>
                <a:ea typeface="Times New Roman" panose="02020603050405020304" pitchFamily="18" charset="0"/>
              </a:rPr>
              <a:t>de esta instalación</a:t>
            </a:r>
            <a:r>
              <a:rPr lang="es-ES" sz="1100" b="1" cap="all" dirty="0">
                <a:solidFill>
                  <a:srgbClr val="000000"/>
                </a:solidFill>
                <a:latin typeface="Arial" panose="020B0604020202020204" pitchFamily="34" charset="0"/>
                <a:ea typeface="Times New Roman" panose="02020603050405020304" pitchFamily="18" charset="0"/>
              </a:rPr>
              <a:t> </a:t>
            </a:r>
            <a:r>
              <a:rPr lang="es-ES" sz="1100" dirty="0">
                <a:solidFill>
                  <a:srgbClr val="000000"/>
                </a:solidFill>
                <a:latin typeface="Arial" panose="020B0604020202020204" pitchFamily="34" charset="0"/>
                <a:ea typeface="Times New Roman" panose="02020603050405020304" pitchFamily="18" charset="0"/>
              </a:rPr>
              <a:t>en nombre propio </a:t>
            </a:r>
            <a:r>
              <a:rPr lang="es-ES" sz="1400" b="1" dirty="0">
                <a:solidFill>
                  <a:srgbClr val="000000"/>
                </a:solidFill>
                <a:latin typeface="Arial" panose="020B0604020202020204" pitchFamily="34" charset="0"/>
                <a:ea typeface="Times New Roman" panose="02020603050405020304" pitchFamily="18" charset="0"/>
              </a:rPr>
              <a:t>DECLARO BAJO MI RESPONSABILIDAD</a:t>
            </a:r>
            <a:r>
              <a:rPr lang="es-ES" sz="1400" dirty="0">
                <a:solidFill>
                  <a:srgbClr val="000000"/>
                </a:solidFill>
                <a:latin typeface="Arial" panose="020B0604020202020204" pitchFamily="34" charset="0"/>
                <a:ea typeface="Times New Roman" panose="02020603050405020304" pitchFamily="18" charset="0"/>
              </a:rPr>
              <a:t> </a:t>
            </a:r>
            <a:r>
              <a:rPr lang="es-ES" sz="1100" dirty="0">
                <a:solidFill>
                  <a:srgbClr val="000000"/>
                </a:solidFill>
                <a:latin typeface="Arial" panose="020B0604020202020204" pitchFamily="34" charset="0"/>
                <a:ea typeface="Times New Roman" panose="02020603050405020304" pitchFamily="18" charset="0"/>
              </a:rPr>
              <a:t>que nuestras instalaciones cumplen con todo lo requerido en el R. D. 487/2022, de 21 de junio por el que se establecen los requisitos sanitarios para la prevención y el control de la legionelosis.</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Por otro lado, </a:t>
            </a:r>
            <a:r>
              <a:rPr lang="es-ES" sz="1100" b="1" dirty="0">
                <a:solidFill>
                  <a:srgbClr val="000000"/>
                </a:solidFill>
                <a:latin typeface="Arial" panose="020B0604020202020204" pitchFamily="34" charset="0"/>
                <a:ea typeface="Times New Roman" panose="02020603050405020304" pitchFamily="18" charset="0"/>
              </a:rPr>
              <a:t>DECLARO BAJO MI RESPONSABILIDAD</a:t>
            </a:r>
            <a:r>
              <a:rPr lang="es-ES" sz="1100" dirty="0">
                <a:solidFill>
                  <a:srgbClr val="000000"/>
                </a:solidFill>
                <a:latin typeface="Arial" panose="020B0604020202020204" pitchFamily="34" charset="0"/>
                <a:ea typeface="Times New Roman" panose="02020603050405020304" pitchFamily="18" charset="0"/>
              </a:rPr>
              <a:t> que: </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Atenderé a todas las demandas de información que la autoridad sanitaria me solicite acerca de estas instalaciones. </a:t>
            </a: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Todos los registros y actuaciones indicadas en los programas de mantenimiento periódico propuestos por la empresa externa contratada para la realización de las tareas encaminadas a la prevención y control de la Legionella se cumplimentan de forma veraz y en tiempo estando todos nuestros registros al día. Pondré a disposición de la autoridad sanitaria toda la información u operaciones realizadas en nuestras instalaciones siempre que esta lo estime oportuno</a:t>
            </a:r>
            <a:endParaRPr lang="es-ES" sz="11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Acataremos y resolveremos de forma inmediata todas las incidencias que aparezcan o se detecten en nuestras instalaciones que supongan un incremento del riesgo de aparición de Legionella sean detectadas por nosotros mismos o por las posibles empresas externas contratadas.</a:t>
            </a: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ea typeface="Noto Sans Symbols"/>
                <a:cs typeface="Noto Sans Symbols"/>
              </a:rPr>
              <a:t>Se llevarán a cabo, las mejoras estructurales y funcionales de las instalaciones, así como del control de la calidad microbiológica y físico-química del agua, con el fin de que no representen un riesgo para la salud pública debiendo evitar modificaciones de la calidad del agua de consumo humano desde la acometida hasta el grifo o que las que haga vayan encaminadas a minimizar la presencia, proliferación o dispersión de la Legionella. </a:t>
            </a:r>
            <a:endParaRPr lang="es-ES" sz="1100" dirty="0">
              <a:latin typeface="Noto Sans Symbols"/>
              <a:ea typeface="Noto Sans Symbols"/>
              <a:cs typeface="Noto Sans Symbols"/>
            </a:endParaRPr>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lang="es-ES" sz="1100" dirty="0">
              <a:latin typeface="Arial" panose="020B0604020202020204" pitchFamily="34" charset="0"/>
            </a:endParaRPr>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latin typeface="Arial" panose="020B0604020202020204" pitchFamily="34" charset="0"/>
              </a:rPr>
              <a:t>Para que así conste lo firmo en </a:t>
            </a:r>
            <a:endParaRPr lang="es-ES" sz="1100" dirty="0"/>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SALOBREÑA  a       de                  </a:t>
            </a:r>
            <a:r>
              <a:rPr lang="es-ES" sz="1100" dirty="0" err="1">
                <a:solidFill>
                  <a:srgbClr val="000000"/>
                </a:solidFill>
                <a:latin typeface="Arial" panose="020B0604020202020204" pitchFamily="34" charset="0"/>
                <a:ea typeface="Times New Roman" panose="02020603050405020304" pitchFamily="18" charset="0"/>
              </a:rPr>
              <a:t>de</a:t>
            </a:r>
            <a:r>
              <a:rPr lang="es-ES" sz="1100" dirty="0">
                <a:solidFill>
                  <a:srgbClr val="000000"/>
                </a:solidFill>
                <a:latin typeface="Arial" panose="020B0604020202020204" pitchFamily="34" charset="0"/>
                <a:ea typeface="Times New Roman" panose="02020603050405020304" pitchFamily="18" charset="0"/>
              </a:rPr>
              <a:t> 2023.</a:t>
            </a:r>
            <a:endParaRPr lang="es-ES" sz="11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 </a:t>
            </a:r>
            <a:endParaRPr lang="es-ES" sz="1100" dirty="0">
              <a:solidFill>
                <a:srgbClr val="000000"/>
              </a:solidFill>
              <a:latin typeface="Times New Roman" panose="02020603050405020304" pitchFamily="18" charset="0"/>
              <a:ea typeface="Times New Roman" panose="02020603050405020304" pitchFamily="18" charset="0"/>
            </a:endParaRPr>
          </a:p>
          <a:p>
            <a:pPr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100" dirty="0">
                <a:solidFill>
                  <a:srgbClr val="000000"/>
                </a:solidFill>
                <a:latin typeface="Arial" panose="020B0604020202020204" pitchFamily="34" charset="0"/>
                <a:ea typeface="Times New Roman" panose="02020603050405020304" pitchFamily="18" charset="0"/>
              </a:rPr>
              <a:t>Fdo. _________________________________</a:t>
            </a:r>
            <a:endParaRPr lang="es-ES" sz="1100" dirty="0">
              <a:solidFill>
                <a:srgbClr val="000000"/>
              </a:solidFill>
              <a:latin typeface="Times New Roman" panose="02020603050405020304" pitchFamily="18" charset="0"/>
              <a:ea typeface="Times New Roman" panose="02020603050405020304" pitchFamily="18" charset="0"/>
            </a:endParaRPr>
          </a:p>
          <a:p>
            <a:pPr>
              <a:spcAft>
                <a:spcPts val="0"/>
              </a:spcAft>
            </a:pPr>
            <a:r>
              <a:rPr lang="es-ES" sz="1100" dirty="0">
                <a:solidFill>
                  <a:srgbClr val="000000"/>
                </a:solidFill>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340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16632" y="560512"/>
            <a:ext cx="6741368" cy="7583615"/>
          </a:xfrm>
          <a:prstGeom prst="rect">
            <a:avLst/>
          </a:prstGeom>
        </p:spPr>
        <p:txBody>
          <a:bodyPr wrap="square">
            <a:spAutoFit/>
          </a:bodyPr>
          <a:lstStyle/>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Yo </a:t>
            </a:r>
            <a:r>
              <a:rPr lang="es-ES" sz="1600" b="1" dirty="0">
                <a:solidFill>
                  <a:srgbClr val="000000"/>
                </a:solidFill>
                <a:latin typeface="Arial" panose="020B0604020202020204" pitchFamily="34" charset="0"/>
                <a:ea typeface="Times New Roman" panose="02020603050405020304" pitchFamily="18" charset="0"/>
              </a:rPr>
              <a:t>D._JOSE FRANCISCO DEL CARPIO LÓPEZ</a:t>
            </a:r>
            <a:r>
              <a:rPr lang="es-ES" sz="1200" dirty="0">
                <a:solidFill>
                  <a:srgbClr val="000000"/>
                </a:solidFill>
                <a:latin typeface="Arial" panose="020B0604020202020204" pitchFamily="34" charset="0"/>
                <a:ea typeface="Times New Roman" panose="02020603050405020304" pitchFamily="18" charset="0"/>
              </a:rPr>
              <a:t>, con DNI _</a:t>
            </a:r>
            <a:r>
              <a:rPr lang="es-ES" sz="1600" b="1" dirty="0"/>
              <a:t>24.254.821-X</a:t>
            </a:r>
            <a:r>
              <a:rPr lang="es-ES" sz="1200" dirty="0">
                <a:solidFill>
                  <a:srgbClr val="000000"/>
                </a:solidFill>
                <a:latin typeface="Arial" panose="020B0604020202020204" pitchFamily="34" charset="0"/>
                <a:ea typeface="Times New Roman" panose="02020603050405020304" pitchFamily="18" charset="0"/>
              </a:rPr>
              <a:t> como </a:t>
            </a:r>
            <a:r>
              <a:rPr lang="es-ES" sz="1400" b="1" dirty="0">
                <a:solidFill>
                  <a:srgbClr val="000000"/>
                </a:solidFill>
                <a:latin typeface="Arial" panose="020B0604020202020204" pitchFamily="34" charset="0"/>
                <a:ea typeface="Times New Roman" panose="02020603050405020304" pitchFamily="18" charset="0"/>
              </a:rPr>
              <a:t>RESPONSABLE TÉCNICO EMPRESA EXTERNA CONTRATADA </a:t>
            </a:r>
            <a:r>
              <a:rPr lang="es-ES" sz="1200" dirty="0">
                <a:solidFill>
                  <a:srgbClr val="000000"/>
                </a:solidFill>
                <a:latin typeface="Arial" panose="020B0604020202020204" pitchFamily="34" charset="0"/>
                <a:ea typeface="Times New Roman" panose="02020603050405020304" pitchFamily="18" charset="0"/>
              </a:rPr>
              <a:t>en esta instalación encaminadas a la prevención y control de la legionelosis en nombre propio </a:t>
            </a:r>
            <a:r>
              <a:rPr lang="es-ES" sz="1200" b="1" dirty="0">
                <a:solidFill>
                  <a:srgbClr val="000000"/>
                </a:solidFill>
                <a:latin typeface="Arial" panose="020B0604020202020204" pitchFamily="34" charset="0"/>
                <a:ea typeface="Times New Roman" panose="02020603050405020304" pitchFamily="18" charset="0"/>
              </a:rPr>
              <a:t>DECLARO BAJO MI RESPONSABILIDAD</a:t>
            </a:r>
            <a:r>
              <a:rPr lang="es-ES" sz="1200" dirty="0">
                <a:solidFill>
                  <a:srgbClr val="000000"/>
                </a:solidFill>
                <a:latin typeface="Arial" panose="020B0604020202020204" pitchFamily="34" charset="0"/>
                <a:ea typeface="Times New Roman" panose="02020603050405020304" pitchFamily="18" charset="0"/>
              </a:rPr>
              <a:t> que: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marL="171450" indent="-171450" algn="just">
              <a:buFont typeface="Arial" panose="020B0604020202020204" pitchFamily="34" charset="0"/>
              <a:buChar char="•"/>
            </a:pPr>
            <a:r>
              <a:rPr lang="es-ES" sz="1200" dirty="0">
                <a:latin typeface="Arial" panose="020B0604020202020204" pitchFamily="34" charset="0"/>
                <a:ea typeface="Noto Sans Symbols"/>
                <a:cs typeface="Noto Sans Symbols"/>
              </a:rPr>
              <a:t>Cuento con la formación y los conocimientos suficientes  para desempeñar mi labor y en su caso lo establecido en el articulo 5 del R D 830/2010, de 25 de junio , por el que se establece la normativa reguladora de la capacitación para realizar tratamientos con biocidas estando en  posesión</a:t>
            </a:r>
            <a:r>
              <a:rPr lang="es-ES" dirty="0"/>
              <a:t> </a:t>
            </a:r>
            <a:r>
              <a:rPr lang="es-ES" sz="1200" dirty="0">
                <a:latin typeface="Arial" panose="020B0604020202020204" pitchFamily="34" charset="0"/>
                <a:ea typeface="Noto Sans Symbols"/>
                <a:cs typeface="Noto Sans Symbols"/>
              </a:rPr>
              <a:t>de la cualificación profesional relativa al mantenimiento higiénico-sanitario de instalaciones susceptibles de proliferación de Legionella y otros organismos nocivos y su diseminación por aerosolización (SEA492_2), recogida en el Real Decreto 1223/2010, de 1 de octubre, por el que se complementa el Catálogo Nacional de Cualificaciones Profesionales.</a:t>
            </a:r>
          </a:p>
          <a:p>
            <a:pPr marL="171450" lvl="0" indent="-17145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Todo el personal a mi cargo cuenta con la formación requerida a la actividad que desempeña.</a:t>
            </a:r>
          </a:p>
          <a:p>
            <a:pPr marL="171450" lvl="0" indent="-17145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Que este llevará a cabo correctamente las tareas que nos han sido contratadas por el titular de la instalación para el control de la Legionelosis. Dichas tareas las llevarán a cabo de forma profesional actualizando todos los registros y actuaciones que se me les hayan encomendado de forma veraz y en tiempo quedando todos nuestros registros al día y a disposición de la autoridad sanitaria que podrá solicitarlos cuando lo estime oportuno. </a:t>
            </a:r>
            <a:endParaRPr lang="es-ES" sz="1200" dirty="0">
              <a:latin typeface="Noto Sans Symbols"/>
              <a:ea typeface="Noto Sans Symbols"/>
              <a:cs typeface="Noto Sans Symbols"/>
            </a:endParaRPr>
          </a:p>
          <a:p>
            <a:pPr marL="171450" lvl="0" indent="-17145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Comunicaré de forma inmediata a al titular de la Instalación para que así las lleven a cabo, las mejoras estructurales y funcionales de las instalaciones, así como las incidencias y/o deficiencias que aparezcan en el control de la calidad microbiológica o físico-química del agua, con el fin de que no representen un riesgo para la salud pública </a:t>
            </a: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 </a:t>
            </a:r>
            <a:endParaRPr lang="es-ES" sz="1200" dirty="0"/>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Para que así conste lo firmo en </a:t>
            </a:r>
            <a:endParaRPr lang="es-ES" sz="1200" dirty="0"/>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SALOBREÑA a         de             de 2023.</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Fdo. </a:t>
            </a:r>
            <a:r>
              <a:rPr lang="es-ES" sz="1200" b="1" dirty="0">
                <a:solidFill>
                  <a:srgbClr val="000000"/>
                </a:solidFill>
                <a:latin typeface="Arial" panose="020B0604020202020204" pitchFamily="34" charset="0"/>
                <a:ea typeface="Times New Roman" panose="02020603050405020304" pitchFamily="18" charset="0"/>
              </a:rPr>
              <a:t>JOSE FRANCISCO DEL CARPIO LÓPEZ</a:t>
            </a:r>
            <a:endParaRPr lang="es-ES" sz="1200"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88093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560512"/>
            <a:ext cx="6858000" cy="8599277"/>
          </a:xfrm>
          <a:prstGeom prst="rect">
            <a:avLst/>
          </a:prstGeom>
        </p:spPr>
        <p:txBody>
          <a:bodyPr wrap="square">
            <a:spAutoFit/>
          </a:bodyPr>
          <a:lstStyle/>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Yo </a:t>
            </a:r>
            <a:r>
              <a:rPr lang="es-ES" sz="1200" b="1" dirty="0">
                <a:solidFill>
                  <a:srgbClr val="000000"/>
                </a:solidFill>
                <a:latin typeface="Arial" panose="020B0604020202020204" pitchFamily="34" charset="0"/>
                <a:ea typeface="Times New Roman" panose="02020603050405020304" pitchFamily="18" charset="0"/>
              </a:rPr>
              <a:t>D._</a:t>
            </a:r>
            <a:r>
              <a:rPr lang="es-ES" b="1" dirty="0"/>
              <a:t>ABDELWAHED SAMIT </a:t>
            </a:r>
            <a:r>
              <a:rPr lang="es-ES" sz="1200" dirty="0">
                <a:solidFill>
                  <a:srgbClr val="000000"/>
                </a:solidFill>
                <a:latin typeface="Arial" panose="020B0604020202020204" pitchFamily="34" charset="0"/>
                <a:ea typeface="Times New Roman" panose="02020603050405020304" pitchFamily="18" charset="0"/>
              </a:rPr>
              <a:t>con DNI </a:t>
            </a:r>
            <a:r>
              <a:rPr lang="es-ES" sz="1600" b="1" dirty="0"/>
              <a:t>X-5474191-F</a:t>
            </a:r>
            <a:r>
              <a:rPr lang="es-ES" b="1" dirty="0"/>
              <a:t> </a:t>
            </a:r>
            <a:r>
              <a:rPr lang="es-ES" sz="1200" dirty="0">
                <a:solidFill>
                  <a:srgbClr val="000000"/>
                </a:solidFill>
                <a:latin typeface="Arial" panose="020B0604020202020204" pitchFamily="34" charset="0"/>
                <a:ea typeface="Times New Roman" panose="02020603050405020304" pitchFamily="18" charset="0"/>
              </a:rPr>
              <a:t>como </a:t>
            </a:r>
            <a:r>
              <a:rPr lang="es-ES" sz="1400" b="1" dirty="0">
                <a:solidFill>
                  <a:srgbClr val="000000"/>
                </a:solidFill>
                <a:latin typeface="Arial" panose="020B0604020202020204" pitchFamily="34" charset="0"/>
                <a:ea typeface="Times New Roman" panose="02020603050405020304" pitchFamily="18" charset="0"/>
              </a:rPr>
              <a:t>PERSONAL</a:t>
            </a:r>
            <a:r>
              <a:rPr lang="es-ES" sz="1200" dirty="0">
                <a:solidFill>
                  <a:srgbClr val="000000"/>
                </a:solidFill>
                <a:latin typeface="Arial" panose="020B0604020202020204" pitchFamily="34" charset="0"/>
                <a:ea typeface="Times New Roman" panose="02020603050405020304" pitchFamily="18" charset="0"/>
              </a:rPr>
              <a:t> </a:t>
            </a:r>
            <a:r>
              <a:rPr lang="es-ES" sz="1400" b="1" dirty="0">
                <a:solidFill>
                  <a:srgbClr val="000000"/>
                </a:solidFill>
                <a:latin typeface="Arial" panose="020B0604020202020204" pitchFamily="34" charset="0"/>
                <a:ea typeface="Times New Roman" panose="02020603050405020304" pitchFamily="18" charset="0"/>
              </a:rPr>
              <a:t>EMPRESA EXTERNA RESPONSABLE DE LAS TAREAS REALIZADAS </a:t>
            </a:r>
            <a:r>
              <a:rPr lang="es-ES" sz="1200" dirty="0">
                <a:solidFill>
                  <a:srgbClr val="000000"/>
                </a:solidFill>
                <a:latin typeface="Arial" panose="020B0604020202020204" pitchFamily="34" charset="0"/>
                <a:ea typeface="Times New Roman" panose="02020603050405020304" pitchFamily="18" charset="0"/>
              </a:rPr>
              <a:t>en estas instalaciones encaminadas a la prevención y control de la legionelosis en nombre propio </a:t>
            </a:r>
            <a:r>
              <a:rPr lang="es-ES" sz="1200" b="1" dirty="0">
                <a:solidFill>
                  <a:srgbClr val="000000"/>
                </a:solidFill>
                <a:latin typeface="Arial" panose="020B0604020202020204" pitchFamily="34" charset="0"/>
                <a:ea typeface="Times New Roman" panose="02020603050405020304" pitchFamily="18" charset="0"/>
              </a:rPr>
              <a:t>DECLARO BAJO MI RESPONSABILIDAD</a:t>
            </a:r>
            <a:r>
              <a:rPr lang="es-ES" sz="1200" dirty="0">
                <a:solidFill>
                  <a:srgbClr val="000000"/>
                </a:solidFill>
                <a:latin typeface="Arial" panose="020B0604020202020204" pitchFamily="34" charset="0"/>
                <a:ea typeface="Times New Roman" panose="02020603050405020304" pitchFamily="18" charset="0"/>
              </a:rPr>
              <a:t> que: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Tengo pleno conocimiento acerca de mis labores y cometido en cuanto a la prevención y control de la legionelosis en las instalaciones  indicadas en los programas de mantenimiento periódico propuestos por la empresa externa contratada para la realización de las tareas encaminadas a la prevención y control de la Legionella</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Dichas tareas las llevaré a cabo de forma profesional actualizando todos los registros y actuaciones que se me han encomendado de forma veraz y en tiempo estando todos nuestros registros al día.</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Comunicaré de forma inmediata a mis superiores todas las incidencias que detecte en nuestras instalaciones o que detecten otros y me comuniquen a mí que supongan un incremento del riesgo de aparición de Legionelosis.</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Comunicaré de forma inmediata a mis superiores para que lleven a cabo, las mejoras estructurales y funcionales de las instalaciones, así como las incidencias  que aparezcan en el control de la calidad microbiológica y físico-química del agua, con el fin de que no representen un riesgo para la salud pública debiendo evitar modificaciones de la calidad del agua de consumo humano desde la acometida hasta el grifo o que las que haga vayan encaminadas a minimizar la presencia, proliferación o dispersión de la Legionella. </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Acataré de forma profesional todas las recomendaciones que empresas externas contratadas para la realización de tareas encaminadas a la prevención y control de la Legionella hagan hacia mi labor siempre y cuando estas supongan un incremento en la prevención y control de la Legionella.</a:t>
            </a:r>
            <a:endParaRPr lang="es-ES" sz="1200" dirty="0">
              <a:latin typeface="Noto Sans Symbols"/>
              <a:ea typeface="Noto Sans Symbols"/>
              <a:cs typeface="Noto Sans Symbols"/>
            </a:endParaRPr>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 </a:t>
            </a:r>
            <a:endParaRPr lang="es-ES" sz="1200" dirty="0"/>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Para que así conste lo firmo en </a:t>
            </a:r>
            <a:endParaRPr lang="es-ES" sz="1200" dirty="0"/>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SALOBREÑA   a       de            de 2023.</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Fdo. </a:t>
            </a:r>
            <a:r>
              <a:rPr lang="es-ES" sz="1200" b="1" dirty="0"/>
              <a:t>ABDELWAHED SAMIT </a:t>
            </a:r>
            <a:endParaRPr lang="es-ES" sz="1200" dirty="0">
              <a:solidFill>
                <a:srgbClr val="000000"/>
              </a:solidFill>
              <a:latin typeface="Times New Roman" panose="02020603050405020304" pitchFamily="18" charset="0"/>
              <a:ea typeface="Times New Roman" panose="02020603050405020304" pitchFamily="18" charset="0"/>
            </a:endParaRPr>
          </a:p>
          <a:p>
            <a:pPr>
              <a:spcAft>
                <a:spcPts val="0"/>
              </a:spcAft>
            </a:pPr>
            <a:r>
              <a:rPr lang="es-ES" sz="1200" dirty="0">
                <a:solidFill>
                  <a:srgbClr val="000000"/>
                </a:solidFill>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134344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560512"/>
            <a:ext cx="6858000" cy="8414611"/>
          </a:xfrm>
          <a:prstGeom prst="rect">
            <a:avLst/>
          </a:prstGeom>
        </p:spPr>
        <p:txBody>
          <a:bodyPr wrap="square">
            <a:spAutoFit/>
          </a:bodyPr>
          <a:lstStyle/>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Yo </a:t>
            </a:r>
            <a:r>
              <a:rPr lang="es-ES" sz="1200" b="1" dirty="0">
                <a:solidFill>
                  <a:srgbClr val="000000"/>
                </a:solidFill>
                <a:latin typeface="Arial" panose="020B0604020202020204" pitchFamily="34" charset="0"/>
                <a:ea typeface="Times New Roman" panose="02020603050405020304" pitchFamily="18" charset="0"/>
              </a:rPr>
              <a:t>D._</a:t>
            </a:r>
            <a:r>
              <a:rPr lang="es-ES" sz="1600" b="1" dirty="0">
                <a:solidFill>
                  <a:srgbClr val="000000"/>
                </a:solidFill>
                <a:latin typeface="Arial" panose="020B0604020202020204" pitchFamily="34" charset="0"/>
                <a:ea typeface="Times New Roman" panose="02020603050405020304" pitchFamily="18" charset="0"/>
              </a:rPr>
              <a:t>ANTONIO LUIS CABALLERO </a:t>
            </a:r>
            <a:r>
              <a:rPr lang="es-ES" sz="1200" dirty="0">
                <a:solidFill>
                  <a:srgbClr val="000000"/>
                </a:solidFill>
                <a:latin typeface="Arial" panose="020B0604020202020204" pitchFamily="34" charset="0"/>
                <a:ea typeface="Times New Roman" panose="02020603050405020304" pitchFamily="18" charset="0"/>
              </a:rPr>
              <a:t>con DNI </a:t>
            </a:r>
            <a:r>
              <a:rPr lang="es-ES" sz="1600" b="1" dirty="0">
                <a:solidFill>
                  <a:srgbClr val="000000"/>
                </a:solidFill>
                <a:latin typeface="Arial" panose="020B0604020202020204" pitchFamily="34" charset="0"/>
                <a:ea typeface="Times New Roman" panose="02020603050405020304" pitchFamily="18" charset="0"/>
              </a:rPr>
              <a:t>24225719-A</a:t>
            </a:r>
            <a:r>
              <a:rPr lang="es-ES" sz="1200" dirty="0">
                <a:solidFill>
                  <a:srgbClr val="000000"/>
                </a:solidFill>
                <a:latin typeface="Arial" panose="020B0604020202020204" pitchFamily="34" charset="0"/>
                <a:ea typeface="Times New Roman" panose="02020603050405020304" pitchFamily="18" charset="0"/>
              </a:rPr>
              <a:t> como </a:t>
            </a:r>
            <a:r>
              <a:rPr lang="es-ES" sz="1400" b="1" dirty="0">
                <a:solidFill>
                  <a:srgbClr val="000000"/>
                </a:solidFill>
                <a:latin typeface="Arial" panose="020B0604020202020204" pitchFamily="34" charset="0"/>
                <a:ea typeface="Times New Roman" panose="02020603050405020304" pitchFamily="18" charset="0"/>
              </a:rPr>
              <a:t>PERSONAL</a:t>
            </a:r>
            <a:r>
              <a:rPr lang="es-ES" sz="1200" dirty="0">
                <a:solidFill>
                  <a:srgbClr val="000000"/>
                </a:solidFill>
                <a:latin typeface="Arial" panose="020B0604020202020204" pitchFamily="34" charset="0"/>
                <a:ea typeface="Times New Roman" panose="02020603050405020304" pitchFamily="18" charset="0"/>
              </a:rPr>
              <a:t> </a:t>
            </a:r>
            <a:r>
              <a:rPr lang="es-ES" sz="1400" b="1" dirty="0">
                <a:solidFill>
                  <a:srgbClr val="000000"/>
                </a:solidFill>
                <a:latin typeface="Arial" panose="020B0604020202020204" pitchFamily="34" charset="0"/>
                <a:ea typeface="Times New Roman" panose="02020603050405020304" pitchFamily="18" charset="0"/>
              </a:rPr>
              <a:t>EMPRESA EXTERNA RESPONSABLE DE LAS TAREAS REALIZADAS </a:t>
            </a:r>
            <a:r>
              <a:rPr lang="es-ES" sz="1200" dirty="0">
                <a:solidFill>
                  <a:srgbClr val="000000"/>
                </a:solidFill>
                <a:latin typeface="Arial" panose="020B0604020202020204" pitchFamily="34" charset="0"/>
                <a:ea typeface="Times New Roman" panose="02020603050405020304" pitchFamily="18" charset="0"/>
              </a:rPr>
              <a:t>en estas instalaciones encaminadas a la prevención y control de la legionelosis en nombre propio </a:t>
            </a:r>
            <a:r>
              <a:rPr lang="es-ES" sz="1200" b="1" dirty="0">
                <a:solidFill>
                  <a:srgbClr val="000000"/>
                </a:solidFill>
                <a:latin typeface="Arial" panose="020B0604020202020204" pitchFamily="34" charset="0"/>
                <a:ea typeface="Times New Roman" panose="02020603050405020304" pitchFamily="18" charset="0"/>
              </a:rPr>
              <a:t>DECLARO BAJO MI RESPONSABILIDAD</a:t>
            </a:r>
            <a:r>
              <a:rPr lang="es-ES" sz="1200" dirty="0">
                <a:solidFill>
                  <a:srgbClr val="000000"/>
                </a:solidFill>
                <a:latin typeface="Arial" panose="020B0604020202020204" pitchFamily="34" charset="0"/>
                <a:ea typeface="Times New Roman" panose="02020603050405020304" pitchFamily="18" charset="0"/>
              </a:rPr>
              <a:t> que: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Tengo pleno conocimiento acerca de mis labores y cometido en cuanto a la prevención y control de la legionelosis en las instalaciones  indicadas en los programas de mantenimiento periódico propuestos por la empresa externa contratada para la realización de las tareas encaminadas a la prevención y control de la Legionella</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Dichas tareas las llevaré a cabo de forma profesional actualizando todos los registros y actuaciones que se me han encomendado de forma veraz y en tiempo estando todos nuestros registros al día.</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Comunicaré de forma inmediata a mis superiores todas las incidencias que detecte en nuestras instalaciones o que detecten otros y me comuniquen a mí que supongan un incremento del riesgo de aparición de Legionelosis.</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Comunicaré de forma inmediata a mis superiores para que lleven a cabo, las mejoras estructurales y funcionales de las instalaciones, así como las incidencias  que aparezcan en el control de la calidad microbiológica y físico-química del agua, con el fin de que no representen un riesgo para la salud pública debiendo evitar modificaciones de la calidad del agua de consumo humano desde la acometida hasta el grifo o que las que haga vayan encaminadas a minimizar la presencia, proliferación o dispersión de la Legionella. </a:t>
            </a:r>
            <a:endParaRPr lang="es-ES" sz="1200" dirty="0">
              <a:latin typeface="Noto Sans Symbols"/>
              <a:ea typeface="Noto Sans Symbols"/>
              <a:cs typeface="Noto Sans Symbols"/>
            </a:endParaRPr>
          </a:p>
          <a:p>
            <a:pPr marL="342900" lvl="0" indent="-342900" algn="just">
              <a:lnSpc>
                <a:spcPct val="130000"/>
              </a:lnSpc>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ea typeface="Noto Sans Symbols"/>
                <a:cs typeface="Noto Sans Symbols"/>
              </a:rPr>
              <a:t>Acataré de forma profesional todas las recomendaciones que empresas externas contratadas para la realización de tareas encaminadas a la prevención y control de la Legionella hagan hacia mi labor siempre y cuando estas supongan un incremento en la prevención y control de la Legionella.</a:t>
            </a:r>
            <a:endParaRPr lang="es-ES" sz="1200" dirty="0">
              <a:latin typeface="Noto Sans Symbols"/>
              <a:ea typeface="Noto Sans Symbols"/>
              <a:cs typeface="Noto Sans Symbols"/>
            </a:endParaRPr>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 </a:t>
            </a:r>
            <a:endParaRPr lang="es-ES" sz="1200" dirty="0"/>
          </a:p>
          <a:p>
            <a:pPr marL="180340" algn="just">
              <a:lnSpc>
                <a:spcPct val="13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latin typeface="Arial" panose="020B0604020202020204" pitchFamily="34" charset="0"/>
              </a:rPr>
              <a:t>Para que así conste lo firmo en </a:t>
            </a:r>
            <a:endParaRPr lang="es-ES" sz="1200" dirty="0"/>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SALOBREÑA a       de              de 2023.</a:t>
            </a:r>
            <a:endParaRPr lang="es-ES" sz="1200" dirty="0">
              <a:solidFill>
                <a:srgbClr val="000000"/>
              </a:solidFill>
              <a:latin typeface="Times New Roman" panose="02020603050405020304" pitchFamily="18" charset="0"/>
              <a:ea typeface="Times New Roman" panose="02020603050405020304" pitchFamily="18" charset="0"/>
            </a:endParaRPr>
          </a:p>
          <a:p>
            <a:pPr indent="270510"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just">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 </a:t>
            </a:r>
            <a:endParaRPr lang="es-ES" sz="1200" dirty="0">
              <a:solidFill>
                <a:srgbClr val="000000"/>
              </a:solidFill>
              <a:latin typeface="Times New Roman" panose="02020603050405020304" pitchFamily="18" charset="0"/>
              <a:ea typeface="Times New Roman" panose="02020603050405020304" pitchFamily="18" charset="0"/>
            </a:endParaRPr>
          </a:p>
          <a:p>
            <a:pPr algn="ctr">
              <a:lnSpc>
                <a:spcPct val="1300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s-ES" sz="1200" dirty="0">
                <a:solidFill>
                  <a:srgbClr val="000000"/>
                </a:solidFill>
                <a:latin typeface="Arial" panose="020B0604020202020204" pitchFamily="34" charset="0"/>
                <a:ea typeface="Times New Roman" panose="02020603050405020304" pitchFamily="18" charset="0"/>
              </a:rPr>
              <a:t>Fdo. ANTONIO LUIS CABALLERO</a:t>
            </a:r>
            <a:endParaRPr lang="es-ES" sz="1200"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03768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335229" y="3357746"/>
            <a:ext cx="4137690" cy="920339"/>
          </a:xfrm>
          <a:noFill/>
          <a:effectLst>
            <a:prstShdw prst="shdw15">
              <a:schemeClr val="bg2"/>
            </a:prstShdw>
          </a:effectLst>
        </p:spPr>
        <p:txBody>
          <a:bodyPr/>
          <a:lstStyle/>
          <a:p>
            <a:pPr eaLnBrk="1" hangingPunct="1"/>
            <a:r>
              <a:rPr lang="es-ES" sz="3600" dirty="0"/>
              <a:t>2.-Programas De Mantenimiento</a:t>
            </a:r>
          </a:p>
        </p:txBody>
      </p:sp>
      <p:sp>
        <p:nvSpPr>
          <p:cNvPr id="4" name="Rectangle 164"/>
          <p:cNvSpPr txBox="1">
            <a:spLocks noChangeArrowheads="1"/>
          </p:cNvSpPr>
          <p:nvPr/>
        </p:nvSpPr>
        <p:spPr bwMode="auto">
          <a:xfrm>
            <a:off x="363121" y="4892070"/>
            <a:ext cx="6081906" cy="423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lgn="just">
              <a:lnSpc>
                <a:spcPct val="80000"/>
              </a:lnSpc>
              <a:spcBef>
                <a:spcPct val="20000"/>
              </a:spcBef>
              <a:buClr>
                <a:schemeClr val="bg2"/>
              </a:buClr>
              <a:buSzPct val="75000"/>
            </a:pPr>
            <a:r>
              <a:rPr lang="es-ES_tradnl" dirty="0">
                <a:cs typeface="Arial" charset="0"/>
              </a:rPr>
              <a:t>EN TODOS LOS SIGUIENTES PROGRAMAS DE MANTENIMIENTO: </a:t>
            </a:r>
          </a:p>
          <a:p>
            <a:pPr algn="just">
              <a:spcBef>
                <a:spcPct val="20000"/>
              </a:spcBef>
              <a:buClr>
                <a:schemeClr val="bg2"/>
              </a:buClr>
              <a:buSzPct val="75000"/>
              <a:buFont typeface="Wingdings" pitchFamily="2" charset="2"/>
              <a:buChar char="n"/>
            </a:pPr>
            <a:r>
              <a:rPr lang="es-ES_tradnl" dirty="0">
                <a:cs typeface="Arial" charset="0"/>
              </a:rPr>
              <a:t>Los parámetros que aparecen en </a:t>
            </a:r>
            <a:r>
              <a:rPr lang="es-ES_tradnl" b="1" dirty="0">
                <a:solidFill>
                  <a:srgbClr val="0070C0"/>
                </a:solidFill>
                <a:cs typeface="Arial" charset="0"/>
              </a:rPr>
              <a:t>Azul</a:t>
            </a:r>
            <a:r>
              <a:rPr lang="es-ES_tradnl" dirty="0">
                <a:solidFill>
                  <a:srgbClr val="0070C0"/>
                </a:solidFill>
                <a:cs typeface="Arial" charset="0"/>
              </a:rPr>
              <a:t> </a:t>
            </a:r>
            <a:r>
              <a:rPr lang="es-ES_tradnl" dirty="0">
                <a:cs typeface="Arial" charset="0"/>
              </a:rPr>
              <a:t>y los registros en los que la firma aparece en azul han de ser especificados por </a:t>
            </a:r>
            <a:r>
              <a:rPr lang="es-ES_tradnl" b="1" dirty="0">
                <a:solidFill>
                  <a:srgbClr val="0070C0"/>
                </a:solidFill>
                <a:cs typeface="Arial" charset="0"/>
              </a:rPr>
              <a:t>SANISUR</a:t>
            </a:r>
            <a:r>
              <a:rPr lang="es-ES_tradnl" sz="3200" b="1" dirty="0">
                <a:solidFill>
                  <a:schemeClr val="bg2"/>
                </a:solidFill>
                <a:cs typeface="Arial" charset="0"/>
              </a:rPr>
              <a:t> </a:t>
            </a:r>
            <a:r>
              <a:rPr lang="es-ES_tradnl" dirty="0">
                <a:cs typeface="Arial" charset="0"/>
              </a:rPr>
              <a:t>y es él el único responsable de su mantenimiento al día.</a:t>
            </a:r>
          </a:p>
          <a:p>
            <a:pPr algn="just">
              <a:spcBef>
                <a:spcPct val="20000"/>
              </a:spcBef>
              <a:buClr>
                <a:schemeClr val="bg2"/>
              </a:buClr>
              <a:buSzPct val="75000"/>
              <a:buFont typeface="Wingdings" pitchFamily="2" charset="2"/>
              <a:buChar char="n"/>
            </a:pPr>
            <a:r>
              <a:rPr lang="es-ES_tradnl" dirty="0">
                <a:cs typeface="Arial" charset="0"/>
              </a:rPr>
              <a:t>Los controles que aparecen en </a:t>
            </a:r>
            <a:r>
              <a:rPr lang="es-ES_tradnl" dirty="0">
                <a:solidFill>
                  <a:srgbClr val="FF0000"/>
                </a:solidFill>
                <a:cs typeface="Arial" charset="0"/>
              </a:rPr>
              <a:t>Rojo</a:t>
            </a:r>
            <a:r>
              <a:rPr lang="es-ES_tradnl" dirty="0">
                <a:cs typeface="Arial" charset="0"/>
              </a:rPr>
              <a:t> han de ser especificados por </a:t>
            </a:r>
            <a:r>
              <a:rPr lang="es-ES_tradnl" dirty="0">
                <a:solidFill>
                  <a:srgbClr val="FF0000"/>
                </a:solidFill>
                <a:cs typeface="Arial" charset="0"/>
              </a:rPr>
              <a:t>entidades privadas externas ajenas al Establecimiento o a Sanisur. </a:t>
            </a:r>
          </a:p>
        </p:txBody>
      </p:sp>
    </p:spTree>
    <p:extLst>
      <p:ext uri="{BB962C8B-B14F-4D97-AF65-F5344CB8AC3E}">
        <p14:creationId xmlns:p14="http://schemas.microsoft.com/office/powerpoint/2010/main" val="2492989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45"/>
          <p:cNvGraphicFramePr>
            <a:graphicFrameLocks noGrp="1"/>
          </p:cNvGraphicFramePr>
          <p:nvPr>
            <p:extLst>
              <p:ext uri="{D42A27DB-BD31-4B8C-83A1-F6EECF244321}">
                <p14:modId xmlns:p14="http://schemas.microsoft.com/office/powerpoint/2010/main" val="1904187721"/>
              </p:ext>
            </p:extLst>
          </p:nvPr>
        </p:nvGraphicFramePr>
        <p:xfrm>
          <a:off x="1" y="920553"/>
          <a:ext cx="6858000" cy="6984775"/>
        </p:xfrm>
        <a:graphic>
          <a:graphicData uri="http://schemas.openxmlformats.org/drawingml/2006/table">
            <a:tbl>
              <a:tblPr/>
              <a:tblGrid>
                <a:gridCol w="1544595">
                  <a:extLst>
                    <a:ext uri="{9D8B030D-6E8A-4147-A177-3AD203B41FA5}">
                      <a16:colId xmlns:a16="http://schemas.microsoft.com/office/drawing/2014/main" val="20000"/>
                    </a:ext>
                  </a:extLst>
                </a:gridCol>
                <a:gridCol w="948300">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692697">
                  <a:extLst>
                    <a:ext uri="{9D8B030D-6E8A-4147-A177-3AD203B41FA5}">
                      <a16:colId xmlns:a16="http://schemas.microsoft.com/office/drawing/2014/main" val="20004"/>
                    </a:ext>
                  </a:extLst>
                </a:gridCol>
              </a:tblGrid>
              <a:tr h="322425">
                <a:tc gridSpan="5">
                  <a:txBody>
                    <a:bodyPr/>
                    <a:lstStyle/>
                    <a:p>
                      <a:pPr algn="ctr"/>
                      <a:r>
                        <a:rPr lang="es-ES" sz="1000" dirty="0"/>
                        <a:t>PROGRAMA DE MANTENIMIENTO</a:t>
                      </a:r>
                    </a:p>
                  </a:txBody>
                  <a:tcPr marL="43827" marR="43827" marT="21915" marB="219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marT="45724" marB="4572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marT="45724" marB="4572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marT="45724" marB="4572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dirty="0"/>
                    </a:p>
                  </a:txBody>
                  <a:tcPr marT="45724" marB="45724"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111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cap="none" normalizeH="0" baseline="0" dirty="0">
                          <a:ln>
                            <a:noFill/>
                          </a:ln>
                          <a:solidFill>
                            <a:srgbClr val="000000"/>
                          </a:solidFill>
                          <a:effectLst/>
                          <a:latin typeface="Arial" pitchFamily="34" charset="0"/>
                        </a:rPr>
                        <a:t>TIPO DE SISTEMA</a:t>
                      </a:r>
                      <a:endParaRPr kumimoji="0" lang="es-ES" sz="1000" b="0" i="0" u="none" strike="noStrike" cap="none" normalizeH="0" baseline="0" dirty="0">
                        <a:ln>
                          <a:noFill/>
                        </a:ln>
                        <a:solidFill>
                          <a:srgbClr val="000000"/>
                        </a:solidFill>
                        <a:effectLst/>
                        <a:latin typeface="Arial" pitchFamily="34" charset="0"/>
                      </a:endParaRPr>
                    </a:p>
                  </a:txBody>
                  <a:tcPr marL="43827" marR="43827" marT="21915" marB="21915"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800" b="0" i="0" u="none" strike="noStrike" cap="none" normalizeH="0" baseline="0" dirty="0">
                          <a:ln>
                            <a:noFill/>
                          </a:ln>
                          <a:solidFill>
                            <a:srgbClr val="000000"/>
                          </a:solidFill>
                          <a:effectLst/>
                          <a:latin typeface="Arial" pitchFamily="34" charset="0"/>
                        </a:rPr>
                        <a:t>PERIODICIDAD</a:t>
                      </a:r>
                      <a:endParaRPr kumimoji="0" lang="es-ES" sz="1000" b="0" i="0" u="none" strike="noStrike" cap="none" normalizeH="0" baseline="0" dirty="0">
                        <a:ln>
                          <a:noFill/>
                        </a:ln>
                        <a:solidFill>
                          <a:srgbClr val="000000"/>
                        </a:solidFill>
                        <a:effectLst/>
                        <a:latin typeface="Arial" pitchFamily="34" charset="0"/>
                      </a:endParaRPr>
                    </a:p>
                  </a:txBody>
                  <a:tcPr marL="43827" marR="43827" marT="21915" marB="21915"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cap="none" normalizeH="0" baseline="0" dirty="0">
                          <a:ln>
                            <a:noFill/>
                          </a:ln>
                          <a:solidFill>
                            <a:srgbClr val="000000"/>
                          </a:solidFill>
                          <a:effectLst/>
                          <a:latin typeface="Arial" pitchFamily="34" charset="0"/>
                        </a:rPr>
                        <a:t>CONTROLES</a:t>
                      </a:r>
                      <a:endParaRPr kumimoji="0" lang="es-ES" sz="1000" b="0" i="0" u="none" strike="noStrike" cap="none" normalizeH="0" baseline="0" dirty="0">
                        <a:ln>
                          <a:noFill/>
                        </a:ln>
                        <a:solidFill>
                          <a:srgbClr val="000000"/>
                        </a:solidFill>
                        <a:effectLst/>
                        <a:latin typeface="Arial" pitchFamily="34" charset="0"/>
                      </a:endParaRPr>
                    </a:p>
                  </a:txBody>
                  <a:tcPr marL="43827" marR="43827" marT="21915" marB="21915"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800" b="0" i="0" u="none" strike="noStrike" cap="none" normalizeH="0" baseline="0" dirty="0">
                          <a:ln>
                            <a:noFill/>
                          </a:ln>
                          <a:solidFill>
                            <a:srgbClr val="000000"/>
                          </a:solidFill>
                          <a:effectLst/>
                          <a:latin typeface="Arial" pitchFamily="34" charset="0"/>
                        </a:rPr>
                        <a:t>PROTOCOLO</a:t>
                      </a:r>
                      <a:endParaRPr kumimoji="0" lang="es-ES" sz="1000" b="0" i="0" u="none" strike="noStrike" cap="none" normalizeH="0" baseline="0" dirty="0">
                        <a:ln>
                          <a:noFill/>
                        </a:ln>
                        <a:solidFill>
                          <a:srgbClr val="000000"/>
                        </a:solidFill>
                        <a:effectLst/>
                        <a:latin typeface="Arial" pitchFamily="34" charset="0"/>
                      </a:endParaRPr>
                    </a:p>
                  </a:txBody>
                  <a:tcPr marL="43827" marR="43827" marT="21915" marB="21915"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800" b="0" i="0" u="none" strike="noStrike" cap="none" normalizeH="0" baseline="0" dirty="0">
                          <a:ln>
                            <a:noFill/>
                          </a:ln>
                          <a:solidFill>
                            <a:srgbClr val="000000"/>
                          </a:solidFill>
                          <a:effectLst/>
                          <a:latin typeface="Arial" pitchFamily="34" charset="0"/>
                        </a:rPr>
                        <a:t>Nº REGISTRO</a:t>
                      </a:r>
                    </a:p>
                  </a:txBody>
                  <a:tcPr marL="43827" marR="43827" marT="21915" marB="21915"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617">
                <a:tc rowSpan="1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1" i="0" u="none" strike="noStrike" cap="none" normalizeH="0" baseline="0" dirty="0">
                          <a:ln>
                            <a:noFill/>
                          </a:ln>
                          <a:solidFill>
                            <a:srgbClr val="000000"/>
                          </a:solidFill>
                          <a:effectLst/>
                          <a:latin typeface="Arial" pitchFamily="34" charset="0"/>
                        </a:rPr>
                        <a:t>FUENTES </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1" i="0" u="none" strike="noStrike" cap="none" normalizeH="0" baseline="0" dirty="0">
                          <a:ln>
                            <a:noFill/>
                          </a:ln>
                          <a:solidFill>
                            <a:srgbClr val="000000"/>
                          </a:solidFill>
                          <a:effectLst/>
                          <a:latin typeface="Arial" pitchFamily="34" charset="0"/>
                        </a:rPr>
                        <a:t>ORNAMENTALES:</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s-ES_tradnl" sz="1000" b="1" i="0" u="none" strike="noStrike" cap="none" normalizeH="0" baseline="0" dirty="0">
                        <a:ln>
                          <a:noFill/>
                        </a:ln>
                        <a:solidFill>
                          <a:srgbClr val="000000"/>
                        </a:solidFill>
                        <a:effectLst/>
                        <a:latin typeface="Arial" pitchFamily="34" charset="0"/>
                      </a:endParaRPr>
                    </a:p>
                    <a:p>
                      <a:pPr marL="85725" indent="-85725" eaLnBrk="1" hangingPunct="1">
                        <a:buFont typeface="Arial" panose="020B0604020202020204" pitchFamily="34" charset="0"/>
                        <a:buChar char="•"/>
                      </a:pPr>
                      <a:r>
                        <a:rPr lang="es-ES" sz="1000" b="1" dirty="0">
                          <a:latin typeface="Arial" pitchFamily="34" charset="0"/>
                        </a:rPr>
                        <a:t>PLAZA GOYA</a:t>
                      </a:r>
                    </a:p>
                    <a:p>
                      <a:pPr marL="85725" indent="-85725" eaLnBrk="1" hangingPunct="1">
                        <a:buFont typeface="Arial" panose="020B0604020202020204" pitchFamily="34" charset="0"/>
                        <a:buChar char="•"/>
                      </a:pPr>
                      <a:r>
                        <a:rPr kumimoji="0" lang="es-ES" sz="1000" b="1" i="0" u="none" strike="noStrike" cap="none" normalizeH="0" baseline="0" dirty="0">
                          <a:ln>
                            <a:noFill/>
                          </a:ln>
                          <a:solidFill>
                            <a:srgbClr val="000000"/>
                          </a:solidFill>
                          <a:effectLst/>
                          <a:latin typeface="Arial" pitchFamily="34" charset="0"/>
                        </a:rPr>
                        <a:t>PLAZA DEL AYUNTAMIENTO</a:t>
                      </a:r>
                      <a:endParaRPr kumimoji="0" lang="es-ES_tradnl" sz="1000" b="1" i="0" u="none" strike="noStrike" cap="none" normalizeH="0" baseline="0" dirty="0">
                        <a:ln>
                          <a:noFill/>
                        </a:ln>
                        <a:solidFill>
                          <a:srgbClr val="000000"/>
                        </a:solidFill>
                        <a:effectLst/>
                        <a:latin typeface="Arial" pitchFamily="34" charset="0"/>
                      </a:endParaRPr>
                    </a:p>
                  </a:txBody>
                  <a:tcPr marL="63307" marR="63307" marT="15170" marB="1517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s-ES_tradnl" sz="1000" b="0" i="0" u="none" strike="noStrike" cap="none" normalizeH="0" baseline="0" dirty="0">
                          <a:ln>
                            <a:noFill/>
                          </a:ln>
                          <a:solidFill>
                            <a:schemeClr val="tx1"/>
                          </a:solidFill>
                          <a:effectLst/>
                          <a:latin typeface="Arial" charset="0"/>
                          <a:cs typeface="Arial" charset="0"/>
                        </a:rPr>
                        <a:t>SEMANAL</a:t>
                      </a:r>
                      <a:endParaRPr kumimoji="0" lang="es-ES" sz="1000" b="0" i="0" u="none" strike="noStrike" kern="1200" cap="none" normalizeH="0" baseline="0" dirty="0">
                        <a:ln>
                          <a:noFill/>
                        </a:ln>
                        <a:solidFill>
                          <a:schemeClr val="tx1"/>
                        </a:solidFill>
                        <a:effectLst/>
                        <a:latin typeface="Arial" pitchFamily="34" charset="0"/>
                        <a:ea typeface="+mn-ea"/>
                        <a:cs typeface="+mn-cs"/>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_tradnl" sz="1000" b="0" i="0" u="none" strike="noStrike" kern="1200" cap="none" normalizeH="0" baseline="0" dirty="0">
                          <a:ln>
                            <a:noFill/>
                          </a:ln>
                          <a:solidFill>
                            <a:srgbClr val="00B0F0"/>
                          </a:solidFill>
                          <a:effectLst/>
                          <a:latin typeface="Arial" pitchFamily="34" charset="0"/>
                          <a:ea typeface="+mn-ea"/>
                          <a:cs typeface="+mn-cs"/>
                        </a:rPr>
                        <a:t>- Cloro Residual Libre </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0" i="0" u="none" strike="noStrike" kern="1200" cap="none" normalizeH="0" baseline="0" dirty="0">
                          <a:ln>
                            <a:noFill/>
                          </a:ln>
                          <a:solidFill>
                            <a:srgbClr val="00B0F0"/>
                          </a:solidFill>
                          <a:effectLst/>
                          <a:latin typeface="Arial" pitchFamily="34" charset="0"/>
                          <a:ea typeface="+mn-ea"/>
                          <a:cs typeface="+mn-cs"/>
                        </a:rPr>
                        <a:t>FNT Nº  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s-ES" sz="1000" b="0" i="0" u="none" strike="noStrike" kern="1200" cap="none" normalizeH="0" baseline="0" dirty="0">
                          <a:ln>
                            <a:noFill/>
                          </a:ln>
                          <a:solidFill>
                            <a:srgbClr val="00B0F0"/>
                          </a:solidFill>
                          <a:effectLst/>
                          <a:latin typeface="Arial" pitchFamily="34" charset="0"/>
                          <a:ea typeface="+mn-ea"/>
                          <a:cs typeface="+mn-cs"/>
                        </a:rPr>
                        <a:t>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4179">
                <a:tc vMerge="1">
                  <a:txBody>
                    <a:bodyPr/>
                    <a:lstStyle/>
                    <a:p>
                      <a:endParaRPr lang="es-E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cap="none" normalizeH="0" baseline="0" dirty="0">
                          <a:ln>
                            <a:noFill/>
                          </a:ln>
                          <a:solidFill>
                            <a:srgbClr val="000000"/>
                          </a:solidFill>
                          <a:effectLst/>
                          <a:latin typeface="Arial" pitchFamily="34" charset="0"/>
                        </a:rPr>
                        <a:t>QUINCENAL</a:t>
                      </a:r>
                      <a:endParaRPr kumimoji="0" lang="es-ES" sz="1000" b="0" i="0" u="none" strike="noStrike" cap="none" normalizeH="0" baseline="0" dirty="0">
                        <a:ln>
                          <a:noFill/>
                        </a:ln>
                        <a:solidFill>
                          <a:srgbClr val="000000"/>
                        </a:solidFill>
                        <a:effectLst/>
                        <a:latin typeface="Arial" pitchFamily="34" charset="0"/>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0" lang="es-ES_tradnl" sz="1000" b="0" i="0" u="none" strike="noStrike" kern="1200" cap="none" normalizeH="0" baseline="0" dirty="0">
                          <a:ln>
                            <a:noFill/>
                          </a:ln>
                          <a:solidFill>
                            <a:srgbClr val="00B0F0"/>
                          </a:solidFill>
                          <a:effectLst/>
                          <a:latin typeface="Arial" pitchFamily="34" charset="0"/>
                          <a:ea typeface="+mn-ea"/>
                          <a:cs typeface="+mn-cs"/>
                        </a:rPr>
                        <a:t>- Renovación total del agua del circuito.</a:t>
                      </a:r>
                      <a:endParaRPr kumimoji="0" lang="es-ES" sz="1000" b="0" i="0" u="none" strike="noStrike" kern="1200" cap="none" normalizeH="0" baseline="0" dirty="0">
                        <a:ln>
                          <a:noFill/>
                        </a:ln>
                        <a:solidFill>
                          <a:srgbClr val="00B0F0"/>
                        </a:solidFill>
                        <a:effectLst/>
                        <a:latin typeface="Arial" pitchFamily="34" charset="0"/>
                        <a:ea typeface="+mn-ea"/>
                        <a:cs typeface="+mn-cs"/>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algn="ctr"/>
                      <a:r>
                        <a:rPr kumimoji="0" lang="es-ES" sz="1000" b="0" i="0" u="none" strike="noStrike" kern="1200" cap="none" normalizeH="0" baseline="0" dirty="0">
                          <a:ln>
                            <a:noFill/>
                          </a:ln>
                          <a:solidFill>
                            <a:srgbClr val="00B0F0"/>
                          </a:solidFill>
                          <a:effectLst/>
                          <a:latin typeface="Arial" pitchFamily="34" charset="0"/>
                          <a:ea typeface="+mn-ea"/>
                          <a:cs typeface="+mn-cs"/>
                        </a:rPr>
                        <a:t>REF. 2 del registro Nº 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algn="ctr"/>
                      <a:r>
                        <a:rPr kumimoji="0" lang="es-ES" sz="1000" b="0" i="0" u="none" strike="noStrike" kern="1200" cap="none" normalizeH="0" baseline="0" dirty="0">
                          <a:ln>
                            <a:noFill/>
                          </a:ln>
                          <a:solidFill>
                            <a:srgbClr val="00B0F0"/>
                          </a:solidFill>
                          <a:effectLst/>
                          <a:latin typeface="Arial" pitchFamily="34" charset="0"/>
                          <a:ea typeface="+mn-ea"/>
                          <a:cs typeface="+mn-cs"/>
                        </a:rPr>
                        <a:t>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772">
                <a:tc vMerge="1">
                  <a:txBody>
                    <a:bodyPr/>
                    <a:lstStyle/>
                    <a:p>
                      <a:endParaRPr lang="es-ES"/>
                    </a:p>
                  </a:txBody>
                  <a:tcPr/>
                </a:tc>
                <a:tc vMerge="1">
                  <a:txBody>
                    <a:bodyPr/>
                    <a:lstStyle/>
                    <a:p>
                      <a:endParaRPr lang="es-ES"/>
                    </a:p>
                  </a:txBody>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_tradnl" sz="1000" b="0" i="0" u="none" strike="noStrike" kern="1200" cap="none" normalizeH="0" baseline="0" dirty="0">
                          <a:ln>
                            <a:noFill/>
                          </a:ln>
                          <a:solidFill>
                            <a:srgbClr val="00B0F0"/>
                          </a:solidFill>
                          <a:effectLst/>
                          <a:latin typeface="Arial" pitchFamily="34" charset="0"/>
                          <a:ea typeface="+mn-ea"/>
                          <a:cs typeface="+mn-cs"/>
                        </a:rPr>
                        <a:t>- Lavado manual del filtros de recirculación</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0" i="0" u="none" strike="noStrike" kern="1200" cap="none" normalizeH="0" baseline="0" dirty="0">
                          <a:ln>
                            <a:noFill/>
                          </a:ln>
                          <a:solidFill>
                            <a:srgbClr val="00B0F0"/>
                          </a:solidFill>
                          <a:effectLst/>
                          <a:latin typeface="Arial" pitchFamily="34" charset="0"/>
                          <a:ea typeface="+mn-ea"/>
                          <a:cs typeface="+mn-cs"/>
                        </a:rPr>
                        <a:t>FNT Nº  5</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s-ES" sz="1000" b="0" i="0" u="none" strike="noStrike" kern="1200" cap="none" normalizeH="0" baseline="0" dirty="0">
                          <a:ln>
                            <a:noFill/>
                          </a:ln>
                          <a:solidFill>
                            <a:srgbClr val="00B0F0"/>
                          </a:solidFill>
                          <a:effectLst/>
                          <a:latin typeface="Arial" pitchFamily="34" charset="0"/>
                          <a:ea typeface="+mn-ea"/>
                          <a:cs typeface="+mn-cs"/>
                        </a:rPr>
                        <a:t>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14553">
                <a:tc vMerge="1">
                  <a:txBody>
                    <a:bodyPr/>
                    <a:lstStyle/>
                    <a:p>
                      <a:endParaRPr lang="es-E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es-ES_tradnl" sz="1000" b="0" i="0" u="none" strike="noStrike" cap="none" normalizeH="0" baseline="0" dirty="0">
                          <a:ln>
                            <a:noFill/>
                          </a:ln>
                          <a:solidFill>
                            <a:srgbClr val="000000"/>
                          </a:solidFill>
                          <a:effectLst/>
                          <a:latin typeface="Arial" pitchFamily="34" charset="0"/>
                        </a:rPr>
                        <a:t>MENSUAL</a:t>
                      </a:r>
                      <a:endParaRPr kumimoji="0" lang="es-ES" sz="1000" b="0" i="0" u="none" strike="noStrike" cap="none" normalizeH="0" baseline="0" dirty="0">
                        <a:ln>
                          <a:noFill/>
                        </a:ln>
                        <a:solidFill>
                          <a:srgbClr val="000000"/>
                        </a:solidFill>
                        <a:effectLst/>
                        <a:latin typeface="Arial" pitchFamily="34" charset="0"/>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kern="1200" cap="none" normalizeH="0" baseline="0" dirty="0">
                          <a:ln>
                            <a:noFill/>
                          </a:ln>
                          <a:solidFill>
                            <a:srgbClr val="00B0F0"/>
                          </a:solidFill>
                          <a:effectLst/>
                          <a:latin typeface="Arial" pitchFamily="34" charset="0"/>
                          <a:ea typeface="+mn-ea"/>
                          <a:cs typeface="+mn-cs"/>
                        </a:rPr>
                        <a:t>- Comprobar el estado de los equipos de desinfección del agua y el funcionamiento de los pre-filtros.</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COMÚN Nº 6 Y </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FNT Nº 3</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2</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0752">
                <a:tc vMerge="1">
                  <a:txBody>
                    <a:bodyPr/>
                    <a:lstStyle/>
                    <a:p>
                      <a:endParaRPr lang="es-ES"/>
                    </a:p>
                  </a:txBody>
                  <a:tcPr/>
                </a:tc>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kern="1200" cap="none" normalizeH="0" baseline="0" dirty="0">
                          <a:ln>
                            <a:noFill/>
                          </a:ln>
                          <a:solidFill>
                            <a:srgbClr val="00B0F0"/>
                          </a:solidFill>
                          <a:effectLst/>
                          <a:latin typeface="Arial" pitchFamily="34" charset="0"/>
                          <a:ea typeface="+mn-ea"/>
                          <a:cs typeface="+mn-cs"/>
                        </a:rPr>
                        <a:t>- Medida de Parámetros físico-químico; Tª, pH,  CRL y Conductividad en cada fuente .</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FNT N º 1</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900" b="0" i="0" u="none" strike="noStrike" kern="1200" cap="none" normalizeH="0" baseline="0" dirty="0">
                          <a:ln>
                            <a:noFill/>
                          </a:ln>
                          <a:solidFill>
                            <a:srgbClr val="00B0F0"/>
                          </a:solidFill>
                          <a:effectLst/>
                          <a:latin typeface="Arial" pitchFamily="34" charset="0"/>
                          <a:ea typeface="+mn-ea"/>
                          <a:cs typeface="+mn-cs"/>
                        </a:rPr>
                        <a:t>PARTE TRABAJO</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72509">
                <a:tc vMerge="1">
                  <a:txBody>
                    <a:bodyPr/>
                    <a:lstStyle/>
                    <a:p>
                      <a:endParaRPr lang="es-E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cap="none" normalizeH="0" baseline="0" dirty="0">
                          <a:ln>
                            <a:noFill/>
                          </a:ln>
                          <a:solidFill>
                            <a:srgbClr val="000000"/>
                          </a:solidFill>
                          <a:effectLst/>
                          <a:latin typeface="Arial" pitchFamily="34" charset="0"/>
                        </a:rPr>
                        <a:t>TRIMESTRAL</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 Comprobar correcto estado conservación y limpieza de TODAS las fuentes</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FNT N º 2</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3</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672509">
                <a:tc vMerge="1">
                  <a:txBody>
                    <a:bodyPr/>
                    <a:lstStyle/>
                    <a:p>
                      <a:endParaRPr lang="es-ES"/>
                    </a:p>
                  </a:txBody>
                  <a:tcPr/>
                </a:tc>
                <a:tc rowSpan="3">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_tradnl" sz="1000" b="0" i="0" u="none" strike="noStrike" cap="none" normalizeH="0" baseline="0" dirty="0">
                          <a:ln>
                            <a:noFill/>
                          </a:ln>
                          <a:solidFill>
                            <a:srgbClr val="000000"/>
                          </a:solidFill>
                          <a:effectLst/>
                          <a:latin typeface="Arial" pitchFamily="34" charset="0"/>
                        </a:rPr>
                        <a:t>SEMESTRAL</a:t>
                      </a:r>
                      <a:endParaRPr kumimoji="0" lang="es-ES" sz="1000" b="0" i="0" u="none" strike="noStrike" cap="none" normalizeH="0" baseline="0" dirty="0">
                        <a:ln>
                          <a:noFill/>
                        </a:ln>
                        <a:solidFill>
                          <a:srgbClr val="000000"/>
                        </a:solidFill>
                        <a:effectLst/>
                        <a:latin typeface="Arial" pitchFamily="34" charset="0"/>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1905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 Comprobar el correcto estado de las boquillas, bombas de impulsión y filtros de recirculación</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FNT N º 3 Y 4</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4</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sm" len="sm"/>
                      <a:tailEnd type="none" w="sm" len="sm"/>
                    </a:lnT>
                    <a:lnB w="9525" cap="flat" cmpd="sng" algn="ctr">
                      <a:solidFill>
                        <a:schemeClr val="tx1"/>
                      </a:solidFill>
                      <a:prstDash val="dot"/>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2289">
                <a:tc vMerge="1">
                  <a:txBody>
                    <a:bodyPr/>
                    <a:lstStyle/>
                    <a:p>
                      <a:endParaRPr lang="es-ES"/>
                    </a:p>
                  </a:txBody>
                  <a:tcPr/>
                </a:tc>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 Limpieza y desinfección total de las instalaciones</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L+D N º 1 Y 5</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900" b="0" i="0" u="none" strike="noStrike" kern="1200" cap="none" normalizeH="0" baseline="0" dirty="0">
                          <a:ln>
                            <a:noFill/>
                          </a:ln>
                          <a:solidFill>
                            <a:srgbClr val="00B0F0"/>
                          </a:solidFill>
                          <a:effectLst/>
                          <a:latin typeface="Arial" pitchFamily="34" charset="0"/>
                          <a:ea typeface="+mn-ea"/>
                          <a:cs typeface="+mn-cs"/>
                        </a:rPr>
                        <a:t>Certificado</a:t>
                      </a:r>
                      <a:endParaRPr kumimoji="0" lang="es-ES" sz="1000" b="0" i="0" u="none" strike="noStrike" kern="1200" cap="none" normalizeH="0" baseline="0" dirty="0">
                        <a:ln>
                          <a:noFill/>
                        </a:ln>
                        <a:solidFill>
                          <a:srgbClr val="00B0F0"/>
                        </a:solidFill>
                        <a:effectLst/>
                        <a:latin typeface="Arial" pitchFamily="34" charset="0"/>
                        <a:ea typeface="+mn-ea"/>
                        <a:cs typeface="+mn-cs"/>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lgn="ctr">
                      <a:solidFill>
                        <a:schemeClr val="tx1"/>
                      </a:solidFill>
                      <a:prstDash val="dot"/>
                      <a:round/>
                      <a:headEnd type="none" w="med" len="med"/>
                      <a:tailEnd type="none" w="med" len="med"/>
                    </a:lnT>
                    <a:lnB w="9525" cap="flat" cmpd="sng" algn="ctr">
                      <a:solidFill>
                        <a:schemeClr val="tx1"/>
                      </a:solidFill>
                      <a:prstDash val="dot"/>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06273">
                <a:tc vMerge="1">
                  <a:txBody>
                    <a:bodyPr/>
                    <a:lstStyle/>
                    <a:p>
                      <a:endParaRPr lang="es-ES"/>
                    </a:p>
                  </a:txBody>
                  <a:tcPr/>
                </a:tc>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cap="none" normalizeH="0" baseline="0" dirty="0">
                          <a:ln>
                            <a:noFill/>
                          </a:ln>
                          <a:solidFill>
                            <a:srgbClr val="FF0000"/>
                          </a:solidFill>
                          <a:effectLst/>
                          <a:latin typeface="Arial" pitchFamily="34" charset="0"/>
                        </a:rPr>
                        <a:t>-  Recuento Total de Aerobios en cada fuente</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s-ES" sz="1000" b="0" i="0" u="none" strike="noStrike" cap="none" normalizeH="0" baseline="0" dirty="0">
                        <a:ln>
                          <a:noFill/>
                        </a:ln>
                        <a:solidFill>
                          <a:srgbClr val="00007D"/>
                        </a:solidFill>
                        <a:effectLst/>
                        <a:latin typeface="Arial" pitchFamily="34" charset="0"/>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cap="none" normalizeH="0" baseline="0" dirty="0">
                          <a:ln>
                            <a:noFill/>
                          </a:ln>
                          <a:solidFill>
                            <a:srgbClr val="FF0000"/>
                          </a:solidFill>
                          <a:effectLst/>
                          <a:latin typeface="Arial" pitchFamily="34" charset="0"/>
                        </a:rPr>
                        <a:t>Boletín</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94732">
                <a:tc vMerge="1">
                  <a:txBody>
                    <a:bodyPr/>
                    <a:lstStyle/>
                    <a:p>
                      <a:endParaRPr lang="es-ES"/>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cap="none" normalizeH="0" baseline="0" dirty="0">
                          <a:ln>
                            <a:noFill/>
                          </a:ln>
                          <a:solidFill>
                            <a:srgbClr val="000000"/>
                          </a:solidFill>
                          <a:effectLst/>
                          <a:latin typeface="Arial" pitchFamily="34" charset="0"/>
                        </a:rPr>
                        <a:t>ANUAL</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 Revisión general funcionamiento de la instalación y todos sus componentes</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COMUN N º 4</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00B0F0"/>
                          </a:solidFill>
                          <a:effectLst/>
                          <a:latin typeface="Arial" pitchFamily="34" charset="0"/>
                          <a:ea typeface="+mn-ea"/>
                          <a:cs typeface="+mn-cs"/>
                        </a:rPr>
                        <a:t>5</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32048">
                <a:tc vMerge="1">
                  <a:txBody>
                    <a:bodyPr/>
                    <a:lstStyle/>
                    <a:p>
                      <a:endParaRPr lang="es-ES"/>
                    </a:p>
                  </a:txBody>
                  <a:tcPr/>
                </a:tc>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FF0000"/>
                          </a:solidFill>
                          <a:effectLst/>
                          <a:latin typeface="Arial" pitchFamily="34" charset="0"/>
                          <a:ea typeface="+mn-ea"/>
                          <a:cs typeface="+mn-cs"/>
                        </a:rPr>
                        <a:t>Legionella spp en cada fuente</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s-ES" sz="1000" b="0" i="0" u="none" strike="noStrike" kern="1200" cap="none" normalizeH="0" baseline="0" dirty="0">
                        <a:ln>
                          <a:noFill/>
                        </a:ln>
                        <a:solidFill>
                          <a:srgbClr val="00B0F0"/>
                        </a:solidFill>
                        <a:effectLst/>
                        <a:latin typeface="Arial" pitchFamily="34" charset="0"/>
                        <a:ea typeface="+mn-ea"/>
                        <a:cs typeface="+mn-cs"/>
                      </a:endParaRP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s-ES" sz="1000" b="0" i="0" u="none" strike="noStrike" kern="1200" cap="none" normalizeH="0" baseline="0" dirty="0">
                          <a:ln>
                            <a:noFill/>
                          </a:ln>
                          <a:solidFill>
                            <a:srgbClr val="FF0000"/>
                          </a:solidFill>
                          <a:effectLst/>
                          <a:latin typeface="Arial" pitchFamily="34" charset="0"/>
                          <a:ea typeface="+mn-ea"/>
                          <a:cs typeface="+mn-cs"/>
                        </a:rPr>
                        <a:t>Boletín</a:t>
                      </a:r>
                    </a:p>
                  </a:txBody>
                  <a:tcPr marL="63307" marR="63307" marT="15170" marB="15170"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424009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36712" y="2000672"/>
            <a:ext cx="5832648" cy="2664296"/>
          </a:xfrm>
          <a:noFill/>
          <a:effectLst>
            <a:prstShdw prst="shdw15">
              <a:schemeClr val="bg2"/>
            </a:prstShdw>
          </a:effectLst>
        </p:spPr>
        <p:txBody>
          <a:bodyPr/>
          <a:lstStyle/>
          <a:p>
            <a:pPr algn="ctr" eaLnBrk="1" hangingPunct="1"/>
            <a:r>
              <a:rPr lang="es-ES_tradnl" sz="3600" dirty="0"/>
              <a:t>3.-Registros De Mantenimiento De Las Instalaciones </a:t>
            </a:r>
            <a:endParaRPr lang="es-ES" sz="3600" dirty="0"/>
          </a:p>
        </p:txBody>
      </p:sp>
      <p:sp>
        <p:nvSpPr>
          <p:cNvPr id="3" name="Rectangle 2"/>
          <p:cNvSpPr txBox="1">
            <a:spLocks noChangeArrowheads="1"/>
          </p:cNvSpPr>
          <p:nvPr/>
        </p:nvSpPr>
        <p:spPr bwMode="auto">
          <a:xfrm>
            <a:off x="404664" y="5745088"/>
            <a:ext cx="6264696" cy="2385669"/>
          </a:xfrm>
          <a:prstGeom prst="rect">
            <a:avLst/>
          </a:prstGeom>
          <a:noFill/>
          <a:ln w="9525">
            <a:noFill/>
            <a:miter lim="800000"/>
            <a:headEnd/>
            <a:tailEnd/>
          </a:ln>
        </p:spPr>
        <p:txBody>
          <a:bodyPr/>
          <a:lstStyle/>
          <a:p>
            <a:r>
              <a:rPr lang="es-ES_tradnl" sz="1200" dirty="0">
                <a:cs typeface="Arial" charset="0"/>
              </a:rPr>
              <a:t>EN TODOS LOS REGISTROS LA NOMENCLATURA DE LAS DISTINTAS  FUENTES SERÁ LA SIGUIENTE: </a:t>
            </a:r>
          </a:p>
          <a:p>
            <a:endParaRPr lang="es-ES_tradnl" sz="1200" dirty="0">
              <a:cs typeface="Arial" charset="0"/>
            </a:endParaRPr>
          </a:p>
          <a:p>
            <a:pPr eaLnBrk="1" hangingPunct="1"/>
            <a:r>
              <a:rPr lang="es-ES" sz="1200" b="1" dirty="0">
                <a:latin typeface="Arial" pitchFamily="34" charset="0"/>
              </a:rPr>
              <a:t>. </a:t>
            </a:r>
            <a:r>
              <a:rPr lang="es-ES" sz="1200" dirty="0">
                <a:latin typeface="Arial" pitchFamily="34" charset="0"/>
              </a:rPr>
              <a:t>PLAZA GOYA : </a:t>
            </a:r>
            <a:r>
              <a:rPr lang="es-ES" sz="1200" b="1" dirty="0">
                <a:latin typeface="Arial" pitchFamily="34" charset="0"/>
              </a:rPr>
              <a:t>PG</a:t>
            </a:r>
          </a:p>
          <a:p>
            <a:pPr eaLnBrk="1" hangingPunct="1"/>
            <a:r>
              <a:rPr lang="es-ES" sz="1200" dirty="0">
                <a:latin typeface="Arial" pitchFamily="34" charset="0"/>
              </a:rPr>
              <a:t>- PLAZA DEL AYUNTAMIENTO: </a:t>
            </a:r>
            <a:r>
              <a:rPr lang="es-ES" sz="1200" b="1" dirty="0">
                <a:latin typeface="Arial" pitchFamily="34" charset="0"/>
              </a:rPr>
              <a:t>PA</a:t>
            </a:r>
            <a:endParaRPr lang="es-ES" sz="1200" dirty="0">
              <a:latin typeface="Arial" pitchFamily="34" charset="0"/>
            </a:endParaRPr>
          </a:p>
        </p:txBody>
      </p:sp>
    </p:spTree>
    <p:extLst>
      <p:ext uri="{BB962C8B-B14F-4D97-AF65-F5344CB8AC3E}">
        <p14:creationId xmlns:p14="http://schemas.microsoft.com/office/powerpoint/2010/main" val="3435964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rot="16200000">
            <a:off x="1423259" y="4592427"/>
            <a:ext cx="9633520" cy="448665"/>
          </a:xfrm>
          <a:prstGeom prst="rect">
            <a:avLst/>
          </a:prstGeom>
          <a:noFill/>
          <a:ln w="9525">
            <a:noFill/>
            <a:miter lim="800000"/>
            <a:headEnd/>
            <a:tailEnd/>
          </a:ln>
        </p:spPr>
        <p:txBody>
          <a:bodyPr/>
          <a:lstStyle/>
          <a:p>
            <a:pPr marL="109563" indent="-109563" algn="just" fontAlgn="base">
              <a:spcBef>
                <a:spcPct val="0"/>
              </a:spcBef>
              <a:spcAft>
                <a:spcPct val="0"/>
              </a:spcAft>
              <a:buFontTx/>
              <a:buAutoNum type="arabicParenBoth"/>
            </a:pPr>
            <a:r>
              <a:rPr lang="es-ES_tradnl" sz="900" dirty="0">
                <a:solidFill>
                  <a:srgbClr val="000000"/>
                </a:solidFill>
                <a:cs typeface="Arial" charset="0"/>
              </a:rPr>
              <a:t>Si es incorrecto habrá de especificarse en registro “Otras operaciones de mantenimiento” el motivo de la avería y la medida adoptada</a:t>
            </a:r>
          </a:p>
          <a:p>
            <a:pPr marL="109563" indent="-109563" algn="just" fontAlgn="base">
              <a:spcBef>
                <a:spcPct val="0"/>
              </a:spcBef>
              <a:spcAft>
                <a:spcPct val="0"/>
              </a:spcAft>
              <a:buFontTx/>
              <a:buAutoNum type="arabicParenBoth"/>
            </a:pPr>
            <a:r>
              <a:rPr lang="es-ES_tradnl" sz="900" dirty="0">
                <a:solidFill>
                  <a:srgbClr val="000000"/>
                </a:solidFill>
                <a:cs typeface="Arial" charset="0"/>
              </a:rPr>
              <a:t>Cada 15 días se renovará completamente el agua de la balsa de CADA fuente, limpiando las paredes y fondo con cualquier detergente, enjuagando todo con abundante agua limpia y rellenando con agua limpia de la red de AFCH. Una vez llena la balsa se medirá el nivel de desinfectante Cloro Residual Libre el cual estará entre 1’5 y 3 ppm </a:t>
            </a:r>
          </a:p>
        </p:txBody>
      </p:sp>
      <p:sp>
        <p:nvSpPr>
          <p:cNvPr id="6" name="Rectangle 2"/>
          <p:cNvSpPr txBox="1">
            <a:spLocks noChangeArrowheads="1"/>
          </p:cNvSpPr>
          <p:nvPr/>
        </p:nvSpPr>
        <p:spPr bwMode="auto">
          <a:xfrm rot="16200000">
            <a:off x="5266559" y="4822048"/>
            <a:ext cx="3002527" cy="180356"/>
          </a:xfrm>
          <a:prstGeom prst="rect">
            <a:avLst/>
          </a:prstGeom>
          <a:noFill/>
          <a:ln w="9525">
            <a:noFill/>
            <a:miter lim="800000"/>
            <a:headEnd/>
            <a:tailEnd/>
          </a:ln>
        </p:spPr>
        <p:txBody>
          <a:bodyPr/>
          <a:lstStyle/>
          <a:p>
            <a:pPr fontAlgn="base">
              <a:spcBef>
                <a:spcPct val="0"/>
              </a:spcBef>
              <a:spcAft>
                <a:spcPct val="0"/>
              </a:spcAft>
            </a:pPr>
            <a:r>
              <a:rPr lang="es-ES_tradnl" sz="1000" dirty="0">
                <a:solidFill>
                  <a:srgbClr val="000000"/>
                </a:solidFill>
                <a:cs typeface="Arial" charset="0"/>
              </a:rPr>
              <a:t>FIRMA RESPONSABLE DE LA INSTALACIÓN:</a:t>
            </a:r>
          </a:p>
        </p:txBody>
      </p:sp>
      <p:pic>
        <p:nvPicPr>
          <p:cNvPr id="3" name="Imagen 2"/>
          <p:cNvPicPr>
            <a:picLocks noChangeAspect="1"/>
          </p:cNvPicPr>
          <p:nvPr/>
        </p:nvPicPr>
        <p:blipFill>
          <a:blip r:embed="rId2"/>
          <a:stretch>
            <a:fillRect/>
          </a:stretch>
        </p:blipFill>
        <p:spPr>
          <a:xfrm rot="16200000">
            <a:off x="-1509597" y="1867232"/>
            <a:ext cx="9217024" cy="5899054"/>
          </a:xfrm>
          <a:prstGeom prst="rect">
            <a:avLst/>
          </a:prstGeom>
        </p:spPr>
      </p:pic>
    </p:spTree>
    <p:extLst>
      <p:ext uri="{BB962C8B-B14F-4D97-AF65-F5344CB8AC3E}">
        <p14:creationId xmlns:p14="http://schemas.microsoft.com/office/powerpoint/2010/main" val="3267314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52"/>
          <p:cNvSpPr txBox="1">
            <a:spLocks noChangeArrowheads="1"/>
          </p:cNvSpPr>
          <p:nvPr/>
        </p:nvSpPr>
        <p:spPr bwMode="auto">
          <a:xfrm>
            <a:off x="2280844" y="3616147"/>
            <a:ext cx="184731" cy="284052"/>
          </a:xfrm>
          <a:prstGeom prst="rect">
            <a:avLst/>
          </a:prstGeom>
          <a:noFill/>
          <a:ln>
            <a:noFill/>
          </a:ln>
          <a:effectLst>
            <a:prstShdw prst="shdw15">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sz="1246"/>
          </a:p>
        </p:txBody>
      </p:sp>
      <p:graphicFrame>
        <p:nvGraphicFramePr>
          <p:cNvPr id="53220" name="Group 2020"/>
          <p:cNvGraphicFramePr>
            <a:graphicFrameLocks noGrp="1"/>
          </p:cNvGraphicFramePr>
          <p:nvPr>
            <p:extLst>
              <p:ext uri="{D42A27DB-BD31-4B8C-83A1-F6EECF244321}">
                <p14:modId xmlns:p14="http://schemas.microsoft.com/office/powerpoint/2010/main" val="1137974792"/>
              </p:ext>
            </p:extLst>
          </p:nvPr>
        </p:nvGraphicFramePr>
        <p:xfrm>
          <a:off x="11124" y="416496"/>
          <a:ext cx="6802252" cy="9024668"/>
        </p:xfrm>
        <a:graphic>
          <a:graphicData uri="http://schemas.openxmlformats.org/drawingml/2006/table">
            <a:tbl>
              <a:tblPr/>
              <a:tblGrid>
                <a:gridCol w="1185628">
                  <a:extLst>
                    <a:ext uri="{9D8B030D-6E8A-4147-A177-3AD203B41FA5}">
                      <a16:colId xmlns:a16="http://schemas.microsoft.com/office/drawing/2014/main" val="20000"/>
                    </a:ext>
                  </a:extLst>
                </a:gridCol>
                <a:gridCol w="494908">
                  <a:extLst>
                    <a:ext uri="{9D8B030D-6E8A-4147-A177-3AD203B41FA5}">
                      <a16:colId xmlns:a16="http://schemas.microsoft.com/office/drawing/2014/main" val="20001"/>
                    </a:ext>
                  </a:extLst>
                </a:gridCol>
                <a:gridCol w="144016">
                  <a:extLst>
                    <a:ext uri="{9D8B030D-6E8A-4147-A177-3AD203B41FA5}">
                      <a16:colId xmlns:a16="http://schemas.microsoft.com/office/drawing/2014/main" val="20002"/>
                    </a:ext>
                  </a:extLst>
                </a:gridCol>
                <a:gridCol w="1220283">
                  <a:extLst>
                    <a:ext uri="{9D8B030D-6E8A-4147-A177-3AD203B41FA5}">
                      <a16:colId xmlns:a16="http://schemas.microsoft.com/office/drawing/2014/main" val="20003"/>
                    </a:ext>
                  </a:extLst>
                </a:gridCol>
                <a:gridCol w="1227989">
                  <a:extLst>
                    <a:ext uri="{9D8B030D-6E8A-4147-A177-3AD203B41FA5}">
                      <a16:colId xmlns:a16="http://schemas.microsoft.com/office/drawing/2014/main" val="20004"/>
                    </a:ext>
                  </a:extLst>
                </a:gridCol>
                <a:gridCol w="2088232">
                  <a:extLst>
                    <a:ext uri="{9D8B030D-6E8A-4147-A177-3AD203B41FA5}">
                      <a16:colId xmlns:a16="http://schemas.microsoft.com/office/drawing/2014/main" val="20005"/>
                    </a:ext>
                  </a:extLst>
                </a:gridCol>
                <a:gridCol w="441196">
                  <a:extLst>
                    <a:ext uri="{9D8B030D-6E8A-4147-A177-3AD203B41FA5}">
                      <a16:colId xmlns:a16="http://schemas.microsoft.com/office/drawing/2014/main" val="20006"/>
                    </a:ext>
                  </a:extLst>
                </a:gridCol>
              </a:tblGrid>
              <a:tr h="423548">
                <a:tc>
                  <a:txBody>
                    <a:bodyPr/>
                    <a:lstStyle/>
                    <a:p>
                      <a:pPr algn="ctr"/>
                      <a:r>
                        <a:rPr lang="es-ES_tradnl" sz="900" b="1" dirty="0">
                          <a:latin typeface="Arial" pitchFamily="34" charset="0"/>
                          <a:cs typeface="Arial" pitchFamily="34" charset="0"/>
                        </a:rPr>
                        <a:t>REGISTRO Nº 2</a:t>
                      </a:r>
                      <a:endParaRPr lang="es-ES" sz="900" b="1" dirty="0">
                        <a:latin typeface="Arial" pitchFamily="34" charset="0"/>
                        <a:cs typeface="Arial" pitchFamily="34" charset="0"/>
                      </a:endParaRP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algn="ctr"/>
                      <a:r>
                        <a:rPr lang="es-ES_tradnl" sz="900" b="1" dirty="0">
                          <a:latin typeface="Arial" pitchFamily="34" charset="0"/>
                          <a:cs typeface="Arial" pitchFamily="34" charset="0"/>
                        </a:rPr>
                        <a:t>REGISTROS MENSUALES </a:t>
                      </a:r>
                    </a:p>
                  </a:txBody>
                  <a:tcPr marL="43827" marR="43827" marT="21914" marB="219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marT="45722" marB="4572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sz="1100" b="1" dirty="0">
                        <a:latin typeface="Arial" pitchFamily="34" charset="0"/>
                        <a:cs typeface="Arial" pitchFamily="34" charset="0"/>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900" b="1" dirty="0">
                          <a:latin typeface="Arial" pitchFamily="34" charset="0"/>
                          <a:cs typeface="Arial" pitchFamily="34" charset="0"/>
                        </a:rPr>
                        <a:t>FECHA:</a:t>
                      </a:r>
                    </a:p>
                  </a:txBody>
                  <a:tcPr marL="43827" marR="43827" marT="21914" marB="21914"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ctr"/>
                      <a:endParaRPr lang="es-ES" sz="700" b="0" dirty="0">
                        <a:latin typeface="Arial" pitchFamily="34" charset="0"/>
                        <a:cs typeface="Arial" pitchFamily="34" charset="0"/>
                      </a:endParaRPr>
                    </a:p>
                  </a:txBody>
                  <a:tcPr marL="43827" marR="43827" marT="21914" marB="21914"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r h="553549">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pitchFamily="34" charset="0"/>
                          <a:cs typeface="Arial" pitchFamily="34" charset="0"/>
                        </a:rPr>
                        <a:t>ACTIVIDAD</a:t>
                      </a: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pitchFamily="34" charset="0"/>
                          <a:cs typeface="Arial" pitchFamily="34" charset="0"/>
                        </a:rPr>
                        <a:t>ESTADO</a:t>
                      </a: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pitchFamily="34" charset="0"/>
                          <a:cs typeface="Arial" pitchFamily="34" charset="0"/>
                        </a:rPr>
                        <a:t>ACCION REALIZADA</a:t>
                      </a: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p>
                      <a:pPr marL="0" marR="0" indent="0" algn="ctr" defTabSz="438253" rtl="0" eaLnBrk="1" fontAlgn="auto" latinLnBrk="0" hangingPunct="1">
                        <a:lnSpc>
                          <a:spcPct val="100000"/>
                        </a:lnSpc>
                        <a:spcBef>
                          <a:spcPts val="0"/>
                        </a:spcBef>
                        <a:spcAft>
                          <a:spcPts val="0"/>
                        </a:spcAft>
                        <a:buClrTx/>
                        <a:buSzTx/>
                        <a:buFontTx/>
                        <a:buNone/>
                        <a:tabLst/>
                        <a:defRPr/>
                      </a:pPr>
                      <a:r>
                        <a:rPr lang="es-ES_tradnl" sz="700" b="0" dirty="0">
                          <a:latin typeface="Arial" pitchFamily="34" charset="0"/>
                          <a:cs typeface="Arial" pitchFamily="34" charset="0"/>
                        </a:rPr>
                        <a:t>FIRMA RESPON-SABLE</a:t>
                      </a:r>
                      <a:r>
                        <a:rPr lang="es-ES_tradnl" sz="700" b="0" baseline="0" dirty="0">
                          <a:latin typeface="Arial" pitchFamily="34" charset="0"/>
                          <a:cs typeface="Arial" pitchFamily="34" charset="0"/>
                        </a:rPr>
                        <a:t> TAREAS</a:t>
                      </a:r>
                      <a:endParaRPr lang="es-ES" sz="700" b="0" dirty="0">
                        <a:latin typeface="Arial" pitchFamily="34" charset="0"/>
                        <a:cs typeface="Arial" pitchFamily="34" charset="0"/>
                      </a:endParaRPr>
                    </a:p>
                  </a:txBody>
                  <a:tcPr marL="43827" marR="43827" marT="21914" marB="21914"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235836">
                <a:tc rowSpan="16">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FUNCIONAMIENTO</a:t>
                      </a:r>
                    </a:p>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PREFILTROS DE AGUA S/PROTOCOLO    FT Nº 3</a:t>
                      </a: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CORRECTO, SIN OBSTRUCCION</a:t>
                      </a: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pitchFamily="34" charset="0"/>
                          <a:cs typeface="Arial" pitchFamily="34" charset="0"/>
                        </a:rPr>
                        <a:t>NO PRECISA</a:t>
                      </a: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rowSpan="3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PM</a:t>
                      </a:r>
                      <a:endParaRPr lang="es-ES" sz="9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PAL</a:t>
                      </a:r>
                      <a:endParaRPr lang="es-ES" sz="9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6"/>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7"/>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8"/>
                  </a:ext>
                </a:extLst>
              </a:tr>
              <a:tr h="3551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0"/>
                  </a:ext>
                </a:extLst>
              </a:tr>
              <a:tr h="235836">
                <a:tc vMerge="1">
                  <a:txBody>
                    <a:bodyPr/>
                    <a:lstStyle/>
                    <a:p>
                      <a:endParaRPr lang="es-ES" sz="5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LC</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PRESENCIA DE SUCIEDAD</a:t>
                      </a: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 b="0" i="0" u="none" strike="noStrike" cap="none" normalizeH="0" baseline="0" dirty="0">
                        <a:ln>
                          <a:noFill/>
                        </a:ln>
                        <a:solidFill>
                          <a:srgbClr val="000000"/>
                        </a:solidFill>
                        <a:effectLst/>
                        <a:latin typeface="Arial" pitchFamily="34" charset="0"/>
                        <a:cs typeface="Arial"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PM</a:t>
                      </a:r>
                      <a:endParaRPr lang="es-ES" sz="900" baseline="0" dirty="0">
                        <a:solidFill>
                          <a:schemeClr val="tx1"/>
                        </a:solidFill>
                        <a:latin typeface="Arial" pitchFamily="34" charset="0"/>
                        <a:cs typeface="Arial" pitchFamily="34" charset="0"/>
                      </a:endParaRP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2"/>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PAL</a:t>
                      </a:r>
                      <a:endParaRPr lang="es-ES" sz="900" baseline="0" dirty="0">
                        <a:solidFill>
                          <a:schemeClr val="tx1"/>
                        </a:solidFill>
                        <a:latin typeface="Arial" pitchFamily="34" charset="0"/>
                        <a:cs typeface="Arial" pitchFamily="34" charset="0"/>
                      </a:endParaRP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3"/>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M</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4"/>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 A</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5"/>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6"/>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 G</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7"/>
                  </a:ext>
                </a:extLst>
              </a:tr>
              <a:tr h="3551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CS LH</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9"/>
                  </a:ext>
                </a:extLst>
              </a:tr>
              <a:tr h="235836">
                <a:tc rowSpan="16">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 ESTADO EQUIPOS  DESINFECCION DEL AGUA  S/PROTOCOLO COMUN Nº 3</a:t>
                      </a: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CORRECTO</a:t>
                      </a:r>
                    </a:p>
                  </a:txBody>
                  <a:tcPr marL="43827" marR="43827" marT="21914" marB="21914"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pitchFamily="34" charset="0"/>
                          <a:cs typeface="Arial" pitchFamily="34" charset="0"/>
                        </a:rPr>
                        <a:t>NO PRECISA</a:t>
                      </a: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0"/>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PM</a:t>
                      </a:r>
                      <a:endParaRPr lang="es-ES" sz="9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1"/>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PAL</a:t>
                      </a:r>
                      <a:endParaRPr lang="es-ES" sz="9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2"/>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3"/>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4"/>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5"/>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6"/>
                  </a:ext>
                </a:extLst>
              </a:tr>
              <a:tr h="3551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8"/>
                  </a:ext>
                </a:extLst>
              </a:tr>
              <a:tr h="235836">
                <a:tc vMerge="1">
                  <a:txBody>
                    <a:bodyPr/>
                    <a:lstStyle/>
                    <a:p>
                      <a:endParaRPr lang="es-ES" sz="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LC</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FUNCIONAMIENTO DEFECTUOSO</a:t>
                      </a: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9050" cap="flat" cmpd="sng" algn="ctr">
                      <a:solidFill>
                        <a:schemeClr val="tx1"/>
                      </a:solidFill>
                      <a:prstDash val="solid"/>
                      <a:round/>
                      <a:headEnd type="none" w="med" len="med"/>
                      <a:tailEnd type="none" w="med" len="med"/>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9050" cap="flat" cmpd="sng" algn="ctr">
                      <a:solidFill>
                        <a:schemeClr val="tx1"/>
                      </a:solidFill>
                      <a:prstDash val="solid"/>
                      <a:round/>
                      <a:headEnd type="none" w="med" len="med"/>
                      <a:tailEnd type="none" w="med" len="med"/>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 b="0" i="0" u="none" strike="noStrike" cap="none" normalizeH="0" baseline="0" dirty="0">
                        <a:ln>
                          <a:noFill/>
                        </a:ln>
                        <a:solidFill>
                          <a:srgbClr val="000000"/>
                        </a:solidFill>
                        <a:effectLst/>
                        <a:latin typeface="Arial" pitchFamily="34" charset="0"/>
                        <a:cs typeface="Arial"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9"/>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PM</a:t>
                      </a:r>
                      <a:endParaRPr lang="es-ES" sz="900" baseline="0" dirty="0">
                        <a:solidFill>
                          <a:schemeClr val="tx1"/>
                        </a:solidFill>
                        <a:latin typeface="Arial" pitchFamily="34" charset="0"/>
                        <a:cs typeface="Arial" pitchFamily="34" charset="0"/>
                      </a:endParaRP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0"/>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PAL</a:t>
                      </a:r>
                      <a:endParaRPr lang="es-ES" sz="900" baseline="0" dirty="0">
                        <a:solidFill>
                          <a:schemeClr val="tx1"/>
                        </a:solidFill>
                        <a:latin typeface="Arial" pitchFamily="34" charset="0"/>
                        <a:cs typeface="Arial" pitchFamily="34" charset="0"/>
                      </a:endParaRP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1"/>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M</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2"/>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P A</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3"/>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4"/>
                  </a:ext>
                </a:extLst>
              </a:tr>
              <a:tr h="235836">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L H G</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5"/>
                  </a:ext>
                </a:extLst>
              </a:tr>
              <a:tr h="3551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900" dirty="0"/>
                        <a:t>CS LH</a:t>
                      </a:r>
                    </a:p>
                  </a:txBody>
                  <a:tcPr marL="63304" marR="63304" marT="31657" marB="31657"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900" b="0" i="0" u="none" strike="noStrike" cap="none" normalizeH="0" baseline="0" dirty="0">
                        <a:ln>
                          <a:noFill/>
                        </a:ln>
                        <a:solidFill>
                          <a:srgbClr val="000000"/>
                        </a:solidFill>
                        <a:effectLst/>
                        <a:latin typeface="Arial" pitchFamily="34" charset="0"/>
                        <a:cs typeface="Arial" pitchFamily="34" charset="0"/>
                      </a:endParaRPr>
                    </a:p>
                  </a:txBody>
                  <a:tcPr marL="43827" marR="43827" marT="21914" marB="21914"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7"/>
                  </a:ext>
                </a:extLst>
              </a:tr>
            </a:tbl>
          </a:graphicData>
        </a:graphic>
      </p:graphicFrame>
      <p:sp>
        <p:nvSpPr>
          <p:cNvPr id="7"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197656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58" name="Group 218"/>
          <p:cNvGraphicFramePr>
            <a:graphicFrameLocks noGrp="1"/>
          </p:cNvGraphicFramePr>
          <p:nvPr>
            <p:extLst>
              <p:ext uri="{D42A27DB-BD31-4B8C-83A1-F6EECF244321}">
                <p14:modId xmlns:p14="http://schemas.microsoft.com/office/powerpoint/2010/main" val="512047987"/>
              </p:ext>
            </p:extLst>
          </p:nvPr>
        </p:nvGraphicFramePr>
        <p:xfrm>
          <a:off x="0" y="200459"/>
          <a:ext cx="6858000" cy="9217036"/>
        </p:xfrm>
        <a:graphic>
          <a:graphicData uri="http://schemas.openxmlformats.org/drawingml/2006/table">
            <a:tbl>
              <a:tblPr/>
              <a:tblGrid>
                <a:gridCol w="1124744">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144016">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2016224">
                  <a:extLst>
                    <a:ext uri="{9D8B030D-6E8A-4147-A177-3AD203B41FA5}">
                      <a16:colId xmlns:a16="http://schemas.microsoft.com/office/drawing/2014/main" val="20004"/>
                    </a:ext>
                  </a:extLst>
                </a:gridCol>
                <a:gridCol w="1358659">
                  <a:extLst>
                    <a:ext uri="{9D8B030D-6E8A-4147-A177-3AD203B41FA5}">
                      <a16:colId xmlns:a16="http://schemas.microsoft.com/office/drawing/2014/main" val="20005"/>
                    </a:ext>
                  </a:extLst>
                </a:gridCol>
                <a:gridCol w="558173">
                  <a:extLst>
                    <a:ext uri="{9D8B030D-6E8A-4147-A177-3AD203B41FA5}">
                      <a16:colId xmlns:a16="http://schemas.microsoft.com/office/drawing/2014/main" val="20006"/>
                    </a:ext>
                  </a:extLst>
                </a:gridCol>
              </a:tblGrid>
              <a:tr h="337609">
                <a:tc>
                  <a:txBody>
                    <a:bodyPr/>
                    <a:lstStyle/>
                    <a:p>
                      <a:pPr algn="ctr"/>
                      <a:r>
                        <a:rPr lang="es-ES_tradnl" sz="700" kern="1200" dirty="0">
                          <a:solidFill>
                            <a:schemeClr val="tx1"/>
                          </a:solidFill>
                          <a:latin typeface="+mn-lt"/>
                          <a:ea typeface="+mn-ea"/>
                          <a:cs typeface="+mn-cs"/>
                        </a:rPr>
                        <a:t>REGISTRO Nº 3</a:t>
                      </a: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ES_tradnl" sz="700" kern="1200" dirty="0">
                          <a:solidFill>
                            <a:schemeClr val="tx1"/>
                          </a:solidFill>
                          <a:latin typeface="+mn-lt"/>
                          <a:ea typeface="+mn-ea"/>
                          <a:cs typeface="+mn-cs"/>
                        </a:rPr>
                        <a:t>REGISTROS </a:t>
                      </a:r>
                      <a:r>
                        <a:rPr lang="es-ES_tradnl" sz="900" b="1" kern="1200" dirty="0">
                          <a:solidFill>
                            <a:schemeClr val="tx1"/>
                          </a:solidFill>
                          <a:latin typeface="+mn-lt"/>
                          <a:ea typeface="+mn-ea"/>
                          <a:cs typeface="+mn-cs"/>
                        </a:rPr>
                        <a:t>TRIMESTRALES</a:t>
                      </a:r>
                      <a:r>
                        <a:rPr lang="es-ES_tradnl" sz="700" kern="1200" dirty="0">
                          <a:solidFill>
                            <a:schemeClr val="tx1"/>
                          </a:solidFill>
                          <a:latin typeface="+mn-lt"/>
                          <a:ea typeface="+mn-ea"/>
                          <a:cs typeface="+mn-cs"/>
                        </a:rPr>
                        <a:t> </a:t>
                      </a:r>
                      <a:r>
                        <a:rPr lang="es-ES" sz="700" kern="1200" dirty="0">
                          <a:solidFill>
                            <a:schemeClr val="tx1"/>
                          </a:solidFill>
                          <a:latin typeface="+mn-lt"/>
                          <a:ea typeface="+mn-ea"/>
                          <a:cs typeface="+mn-cs"/>
                        </a:rPr>
                        <a:t>ESTADO CONSERVACION Y LIMPIEZA DE LAS FUENTES S/PROTOCOLO FNT Nº 3 Y 4</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marL="91439" marR="9143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l"/>
                      <a:endParaRPr lang="es-ES" sz="1100" b="1" dirty="0">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FECHA:</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ctr"/>
                      <a:endParaRPr lang="es-ES" sz="1100" b="1" dirty="0">
                        <a:latin typeface="Arial" pitchFamily="34" charset="0"/>
                        <a:cs typeface="Arial" pitchFamily="34"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r h="484131">
                <a:tc>
                  <a:txBody>
                    <a:bodyPr/>
                    <a:lstStyle/>
                    <a:p>
                      <a:pPr algn="ctr"/>
                      <a:r>
                        <a:rPr lang="es-ES" sz="700" kern="1200" dirty="0">
                          <a:solidFill>
                            <a:schemeClr val="tx1"/>
                          </a:solidFill>
                          <a:latin typeface="+mn-lt"/>
                          <a:ea typeface="+mn-ea"/>
                          <a:cs typeface="+mn-cs"/>
                        </a:rPr>
                        <a:t>ACTIVIDAD</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ESTADO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5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ACCION REALIZADA</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700" kern="1200" dirty="0">
                          <a:solidFill>
                            <a:schemeClr val="tx1"/>
                          </a:solidFill>
                          <a:latin typeface="+mn-lt"/>
                          <a:ea typeface="+mn-ea"/>
                          <a:cs typeface="+mn-cs"/>
                        </a:rPr>
                        <a:t>FIRMA RESPON-SABLE TAREAS</a:t>
                      </a: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solidFill>
                      <a:srgbClr val="00B0F0"/>
                    </a:solidFill>
                  </a:tcPr>
                </a:tc>
                <a:extLst>
                  <a:ext uri="{0D108BD9-81ED-4DB2-BD59-A6C34878D82A}">
                    <a16:rowId xmlns:a16="http://schemas.microsoft.com/office/drawing/2014/main" val="10001"/>
                  </a:ext>
                </a:extLst>
              </a:tr>
              <a:tr h="174902">
                <a:tc rowSpan="16">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ESTADO DE CONSERVACIÓN BOQUILLAS</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TODO CORRECTO. SALIDA DEL AGUA DE FORMA HOMOGENEA</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rowSpan="48">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6"/>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7"/>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8"/>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0"/>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PRESENCIA SUCIEDAD, CORROSIÓN O INCRUSTACIONES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4"/>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5"/>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6"/>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7"/>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9"/>
                  </a:ext>
                </a:extLst>
              </a:tr>
              <a:tr h="174902">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 FUNCIONAMIENTO Y ESTADO DE CONSERVACIÓN  BOMBAS DE IMPULSIÓN</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s-ES" sz="700" kern="1200" dirty="0">
                          <a:solidFill>
                            <a:schemeClr val="tx1"/>
                          </a:solidFill>
                          <a:latin typeface="+mn-lt"/>
                          <a:ea typeface="+mn-ea"/>
                          <a:cs typeface="+mn-cs"/>
                        </a:rPr>
                        <a:t>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0"/>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1"/>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4"/>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5"/>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6"/>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8"/>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MAL FUNCIONAMIENTO O PRESENCIA DE ELEMENTOS CON CORROSIÓN O PÉRDIDAS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9"/>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0"/>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1"/>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4"/>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5"/>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7"/>
                  </a:ext>
                </a:extLst>
              </a:tr>
              <a:tr h="174902">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  ESTADO DE CONSERVACIÓN EN CUANTO A FILTROS DE RECIRCULACIÓN</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s-ES" sz="700" kern="1200" dirty="0">
                          <a:solidFill>
                            <a:schemeClr val="tx1"/>
                          </a:solidFill>
                          <a:latin typeface="+mn-lt"/>
                          <a:ea typeface="+mn-ea"/>
                          <a:cs typeface="+mn-cs"/>
                        </a:rPr>
                        <a:t>AUSENCIA. 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38"/>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9"/>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0"/>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1"/>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4"/>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6"/>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sz="700" kern="1200" dirty="0">
                          <a:solidFill>
                            <a:schemeClr val="tx1"/>
                          </a:solidFill>
                          <a:latin typeface="+mn-lt"/>
                          <a:ea typeface="+mn-ea"/>
                          <a:cs typeface="+mn-cs"/>
                        </a:rPr>
                        <a:t>PRESENCIA DE INCRUSTACIONES O ELEMENTOS CON INCRUSTACIONES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47"/>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8"/>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9"/>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0"/>
                  </a:ext>
                </a:extLst>
              </a:tr>
              <a:tr h="174902">
                <a:tc vMerge="1">
                  <a:txBody>
                    <a:bodyPr/>
                    <a:lstStyle/>
                    <a:p>
                      <a:endParaRPr lang="es-ES"/>
                    </a:p>
                  </a:txBody>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lang="es-ES" sz="700" kern="1200" dirty="0">
                          <a:solidFill>
                            <a:schemeClr val="tx1"/>
                          </a:solidFill>
                          <a:latin typeface="+mn-lt"/>
                          <a:ea typeface="+mn-ea"/>
                          <a:cs typeface="+mn-cs"/>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1"/>
                  </a:ext>
                </a:extLst>
              </a:tr>
              <a:tr h="174902">
                <a:tc vMerge="1">
                  <a:txBody>
                    <a:bodyPr/>
                    <a:lstStyle/>
                    <a:p>
                      <a:endParaRPr lang="es-ES"/>
                    </a:p>
                  </a:txBody>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lang="es-ES" sz="700" kern="1200" dirty="0">
                          <a:solidFill>
                            <a:schemeClr val="tx1"/>
                          </a:solidFill>
                          <a:latin typeface="+mn-lt"/>
                          <a:ea typeface="+mn-ea"/>
                          <a:cs typeface="+mn-cs"/>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2"/>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3"/>
                  </a:ext>
                </a:extLst>
              </a:tr>
              <a:tr h="17490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mn-lt"/>
                          <a:ea typeface="+mn-ea"/>
                          <a:cs typeface="+mn-cs"/>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lang="es-ES" sz="700" kern="1200" dirty="0">
                        <a:solidFill>
                          <a:schemeClr val="tx1"/>
                        </a:solidFill>
                        <a:latin typeface="+mn-lt"/>
                        <a:ea typeface="+mn-ea"/>
                        <a:cs typeface="+mn-cs"/>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5"/>
                  </a:ext>
                </a:extLst>
              </a:tr>
            </a:tbl>
          </a:graphicData>
        </a:graphic>
      </p:graphicFrame>
      <p:sp>
        <p:nvSpPr>
          <p:cNvPr id="5"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1162893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58" name="Group 218"/>
          <p:cNvGraphicFramePr>
            <a:graphicFrameLocks noGrp="1"/>
          </p:cNvGraphicFramePr>
          <p:nvPr>
            <p:extLst>
              <p:ext uri="{D42A27DB-BD31-4B8C-83A1-F6EECF244321}">
                <p14:modId xmlns:p14="http://schemas.microsoft.com/office/powerpoint/2010/main" val="3750659749"/>
              </p:ext>
            </p:extLst>
          </p:nvPr>
        </p:nvGraphicFramePr>
        <p:xfrm>
          <a:off x="0" y="200473"/>
          <a:ext cx="6858000" cy="9132320"/>
        </p:xfrm>
        <a:graphic>
          <a:graphicData uri="http://schemas.openxmlformats.org/drawingml/2006/table">
            <a:tbl>
              <a:tblPr/>
              <a:tblGrid>
                <a:gridCol w="1124744">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144016">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2016224">
                  <a:extLst>
                    <a:ext uri="{9D8B030D-6E8A-4147-A177-3AD203B41FA5}">
                      <a16:colId xmlns:a16="http://schemas.microsoft.com/office/drawing/2014/main" val="20004"/>
                    </a:ext>
                  </a:extLst>
                </a:gridCol>
                <a:gridCol w="1358659">
                  <a:extLst>
                    <a:ext uri="{9D8B030D-6E8A-4147-A177-3AD203B41FA5}">
                      <a16:colId xmlns:a16="http://schemas.microsoft.com/office/drawing/2014/main" val="20005"/>
                    </a:ext>
                  </a:extLst>
                </a:gridCol>
                <a:gridCol w="558173">
                  <a:extLst>
                    <a:ext uri="{9D8B030D-6E8A-4147-A177-3AD203B41FA5}">
                      <a16:colId xmlns:a16="http://schemas.microsoft.com/office/drawing/2014/main" val="20006"/>
                    </a:ext>
                  </a:extLst>
                </a:gridCol>
              </a:tblGrid>
              <a:tr h="328136">
                <a:tc>
                  <a:txBody>
                    <a:bodyPr/>
                    <a:lstStyle/>
                    <a:p>
                      <a:pPr algn="ctr"/>
                      <a:r>
                        <a:rPr lang="es-ES_tradnl" sz="1000" b="1" dirty="0">
                          <a:latin typeface="Arial" pitchFamily="34" charset="0"/>
                          <a:cs typeface="Arial" pitchFamily="34" charset="0"/>
                        </a:rPr>
                        <a:t>REGISTRO Nº 4</a:t>
                      </a:r>
                      <a:endParaRPr lang="es-ES" sz="1000" b="1" dirty="0">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ES_tradnl" sz="900" b="0" dirty="0">
                          <a:latin typeface="Arial" pitchFamily="34" charset="0"/>
                          <a:cs typeface="Arial" pitchFamily="34" charset="0"/>
                        </a:rPr>
                        <a:t>REGISTROS </a:t>
                      </a:r>
                      <a:r>
                        <a:rPr lang="es-ES_tradnl" sz="900" b="1" dirty="0">
                          <a:latin typeface="Arial" pitchFamily="34" charset="0"/>
                          <a:cs typeface="Arial" pitchFamily="34" charset="0"/>
                        </a:rPr>
                        <a:t>SEMESTRALES</a:t>
                      </a:r>
                      <a:r>
                        <a:rPr lang="es-ES_tradnl" sz="900" b="0" dirty="0">
                          <a:latin typeface="Arial" pitchFamily="34" charset="0"/>
                          <a:cs typeface="Arial" pitchFamily="34" charset="0"/>
                        </a:rPr>
                        <a:t> </a:t>
                      </a:r>
                      <a:r>
                        <a:rPr kumimoji="0" lang="es-ES" sz="900" b="0" i="0" u="none" strike="noStrike" cap="none" normalizeH="0" baseline="0" dirty="0">
                          <a:ln>
                            <a:noFill/>
                          </a:ln>
                          <a:solidFill>
                            <a:schemeClr val="tx1"/>
                          </a:solidFill>
                          <a:effectLst/>
                          <a:latin typeface="Arial" pitchFamily="34" charset="0"/>
                          <a:cs typeface="Arial" pitchFamily="34" charset="0"/>
                        </a:rPr>
                        <a:t>ESTADO CONSERVACION Y LIMPIEZA DE LAS BOQUILLAS, BOMBAS DE IMPULSIÓN Y FILTROS DE RECIRCULACIÓN DE LAS DIFERENTES FUENTES  S/PROTOCOLO FNT Nº 2</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marL="91439" marR="9143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l"/>
                      <a:endParaRPr lang="es-ES" sz="1100" b="1" dirty="0">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tx1"/>
                          </a:solidFill>
                          <a:effectLst/>
                          <a:latin typeface="Arial" pitchFamily="34" charset="0"/>
                          <a:cs typeface="Arial" pitchFamily="34" charset="0"/>
                        </a:rPr>
                        <a:t>FECHA:</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ctr"/>
                      <a:endParaRPr lang="es-ES" sz="1100" b="1" dirty="0">
                        <a:latin typeface="Arial" pitchFamily="34" charset="0"/>
                        <a:cs typeface="Arial" pitchFamily="34"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r h="406655">
                <a:tc>
                  <a:txBody>
                    <a:bodyPr/>
                    <a:lstStyle/>
                    <a:p>
                      <a:pPr algn="ctr"/>
                      <a:r>
                        <a:rPr kumimoji="0" lang="es-ES" sz="900" b="0" i="0" u="none" strike="noStrike" cap="none" normalizeH="0" baseline="0" dirty="0">
                          <a:ln>
                            <a:noFill/>
                          </a:ln>
                          <a:solidFill>
                            <a:schemeClr val="tx1"/>
                          </a:solidFill>
                          <a:effectLst/>
                          <a:latin typeface="Arial" pitchFamily="34" charset="0"/>
                          <a:cs typeface="Arial" pitchFamily="34" charset="0"/>
                        </a:rPr>
                        <a:t>ACTIVIDAD</a:t>
                      </a:r>
                      <a:endParaRPr lang="es-ES" sz="900" b="0" dirty="0">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ESTADO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5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ACCION REALIZADA</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600" b="0" dirty="0">
                          <a:latin typeface="Arial" pitchFamily="34" charset="0"/>
                          <a:cs typeface="Arial" pitchFamily="34" charset="0"/>
                        </a:rPr>
                        <a:t>FIRMA RESPON-SABLE TAREAS</a:t>
                      </a:r>
                      <a:endParaRPr lang="es-ES" sz="600" b="0" dirty="0">
                        <a:latin typeface="Arial" pitchFamily="34" charset="0"/>
                        <a:cs typeface="Arial" pitchFamily="34" charset="0"/>
                      </a:endParaRP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solidFill>
                      <a:srgbClr val="92D050"/>
                    </a:solidFill>
                  </a:tcPr>
                </a:tc>
                <a:extLst>
                  <a:ext uri="{0D108BD9-81ED-4DB2-BD59-A6C34878D82A}">
                    <a16:rowId xmlns:a16="http://schemas.microsoft.com/office/drawing/2014/main" val="10001"/>
                  </a:ext>
                </a:extLst>
              </a:tr>
              <a:tr h="148098">
                <a:tc rowSpan="16">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ES" sz="800" b="0" i="0" u="none" strike="noStrike" cap="none" normalizeH="0" baseline="0" dirty="0">
                          <a:ln>
                            <a:noFill/>
                          </a:ln>
                          <a:solidFill>
                            <a:schemeClr val="tx1"/>
                          </a:solidFill>
                          <a:effectLst/>
                          <a:latin typeface="Arial" pitchFamily="34" charset="0"/>
                          <a:cs typeface="Arial" pitchFamily="34" charset="0"/>
                        </a:rPr>
                        <a:t>ESTADO DE LAS BOQUILLAS</a:t>
                      </a:r>
                      <a:endParaRPr kumimoji="0" lang="es-ES" sz="14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AUSENCIA. 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rowSpan="48">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48098">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PM</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1555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PAL</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1555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6"/>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7"/>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8"/>
                  </a:ext>
                </a:extLst>
              </a:tr>
              <a:tr h="1555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0"/>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PRESENCIA SUCIEDAD, ALGAS Y/O LODOS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PM</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2"/>
                  </a:ext>
                </a:extLst>
              </a:tr>
              <a:tr h="15723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PAL</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3"/>
                  </a:ext>
                </a:extLst>
              </a:tr>
              <a:tr h="15723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4"/>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5"/>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6"/>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7"/>
                  </a:ext>
                </a:extLst>
              </a:tr>
              <a:tr h="157231">
                <a:tc vMerge="1">
                  <a:txBody>
                    <a:bodyPr/>
                    <a:lstStyle/>
                    <a:p>
                      <a:endParaRPr lang="es-E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9"/>
                  </a:ext>
                </a:extLst>
              </a:tr>
              <a:tr h="145659">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cap="none" normalizeH="0" baseline="0" dirty="0">
                          <a:ln>
                            <a:noFill/>
                          </a:ln>
                          <a:solidFill>
                            <a:schemeClr val="tx1"/>
                          </a:solidFill>
                          <a:effectLst/>
                          <a:latin typeface="Arial" pitchFamily="34" charset="0"/>
                          <a:cs typeface="Arial" pitchFamily="34" charset="0"/>
                        </a:rPr>
                        <a:t>ESTADO DE LAS BOMBAS DE IMPULSIÓN</a:t>
                      </a:r>
                      <a:endParaRPr kumimoji="0" lang="es-ES" sz="14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sz="900" b="0" i="0" u="none" strike="noStrike" cap="none" normalizeH="0" baseline="0" dirty="0">
                          <a:ln>
                            <a:noFill/>
                          </a:ln>
                          <a:solidFill>
                            <a:schemeClr val="tx1"/>
                          </a:solidFill>
                          <a:effectLst/>
                          <a:latin typeface="Arial" pitchFamily="34" charset="0"/>
                          <a:cs typeface="Arial" pitchFamily="34" charset="0"/>
                        </a:rPr>
                        <a:t>AUSENCIA. 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0"/>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PM</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1"/>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PAL</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2"/>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3"/>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4"/>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5"/>
                  </a:ext>
                </a:extLst>
              </a:tr>
              <a:tr h="1576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6"/>
                  </a:ext>
                </a:extLst>
              </a:tr>
              <a:tr h="15762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8"/>
                  </a:ext>
                </a:extLst>
              </a:tr>
              <a:tr h="15339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PRESENCIA DE ELEMENTOS CON CORROSIÓN</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9"/>
                  </a:ext>
                </a:extLst>
              </a:tr>
              <a:tr h="15339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PM</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0"/>
                  </a:ext>
                </a:extLst>
              </a:tr>
              <a:tr h="16956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PAL</a:t>
                      </a:r>
                      <a:endParaRPr lang="es-ES" sz="700" baseline="0" dirty="0">
                        <a:solidFill>
                          <a:schemeClr val="tx1"/>
                        </a:solidFill>
                        <a:latin typeface="Arial" pitchFamily="34" charset="0"/>
                        <a:cs typeface="Arial" pitchFamily="34" charset="0"/>
                      </a:endParaRP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1"/>
                  </a:ext>
                </a:extLst>
              </a:tr>
              <a:tr h="16956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2"/>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3"/>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4"/>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dirty="0">
                          <a:latin typeface="Arial" panose="020B0604020202020204" pitchFamily="34" charset="0"/>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5"/>
                  </a:ext>
                </a:extLst>
              </a:tr>
              <a:tr h="16956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600" dirty="0">
                          <a:latin typeface="Arial" panose="020B0604020202020204" pitchFamily="34" charset="0"/>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7"/>
                  </a:ext>
                </a:extLst>
              </a:tr>
              <a:tr h="147157">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cap="none" normalizeH="0" baseline="0" dirty="0">
                          <a:ln>
                            <a:noFill/>
                          </a:ln>
                          <a:solidFill>
                            <a:schemeClr val="tx1"/>
                          </a:solidFill>
                          <a:effectLst/>
                          <a:latin typeface="Arial" pitchFamily="34" charset="0"/>
                          <a:cs typeface="Arial" pitchFamily="34" charset="0"/>
                        </a:rPr>
                        <a:t>ESTADO DEL FILTRO DE RECIRCULACIÓN</a:t>
                      </a:r>
                      <a:endParaRPr kumimoji="0" lang="es-ES" sz="14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sz="900" b="0" i="0" u="none" strike="noStrike" cap="none" normalizeH="0" baseline="0" dirty="0">
                          <a:ln>
                            <a:noFill/>
                          </a:ln>
                          <a:solidFill>
                            <a:schemeClr val="tx1"/>
                          </a:solidFill>
                          <a:effectLst/>
                          <a:latin typeface="Arial" pitchFamily="34" charset="0"/>
                          <a:cs typeface="Arial" pitchFamily="34" charset="0"/>
                        </a:rPr>
                        <a:t>AUSENCIA. 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38"/>
                  </a:ext>
                </a:extLst>
              </a:tr>
              <a:tr h="147157">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9"/>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0"/>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1"/>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2"/>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3"/>
                  </a:ext>
                </a:extLst>
              </a:tr>
              <a:tr h="164808">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4"/>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6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6"/>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PRESENCIA DE INCRUSTACIONES O ELEMENTOS CON INCRUSTACIONES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4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47"/>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8"/>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9"/>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0"/>
                  </a:ext>
                </a:extLst>
              </a:tr>
              <a:tr h="14565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1"/>
                  </a:ext>
                </a:extLst>
              </a:tr>
              <a:tr h="15622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2"/>
                  </a:ext>
                </a:extLst>
              </a:tr>
              <a:tr h="15622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3"/>
                  </a:ext>
                </a:extLst>
              </a:tr>
              <a:tr h="156222">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6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5"/>
                  </a:ext>
                </a:extLst>
              </a:tr>
            </a:tbl>
          </a:graphicData>
        </a:graphic>
      </p:graphicFrame>
      <p:sp>
        <p:nvSpPr>
          <p:cNvPr id="5"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1306850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58" name="Group 218"/>
          <p:cNvGraphicFramePr>
            <a:graphicFrameLocks noGrp="1"/>
          </p:cNvGraphicFramePr>
          <p:nvPr>
            <p:extLst>
              <p:ext uri="{D42A27DB-BD31-4B8C-83A1-F6EECF244321}">
                <p14:modId xmlns:p14="http://schemas.microsoft.com/office/powerpoint/2010/main" val="1370738003"/>
              </p:ext>
            </p:extLst>
          </p:nvPr>
        </p:nvGraphicFramePr>
        <p:xfrm>
          <a:off x="0" y="200473"/>
          <a:ext cx="6858000" cy="8994124"/>
        </p:xfrm>
        <a:graphic>
          <a:graphicData uri="http://schemas.openxmlformats.org/drawingml/2006/table">
            <a:tbl>
              <a:tblPr/>
              <a:tblGrid>
                <a:gridCol w="1124744">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144016">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2016224">
                  <a:extLst>
                    <a:ext uri="{9D8B030D-6E8A-4147-A177-3AD203B41FA5}">
                      <a16:colId xmlns:a16="http://schemas.microsoft.com/office/drawing/2014/main" val="20004"/>
                    </a:ext>
                  </a:extLst>
                </a:gridCol>
                <a:gridCol w="1358659">
                  <a:extLst>
                    <a:ext uri="{9D8B030D-6E8A-4147-A177-3AD203B41FA5}">
                      <a16:colId xmlns:a16="http://schemas.microsoft.com/office/drawing/2014/main" val="20005"/>
                    </a:ext>
                  </a:extLst>
                </a:gridCol>
                <a:gridCol w="558173">
                  <a:extLst>
                    <a:ext uri="{9D8B030D-6E8A-4147-A177-3AD203B41FA5}">
                      <a16:colId xmlns:a16="http://schemas.microsoft.com/office/drawing/2014/main" val="20006"/>
                    </a:ext>
                  </a:extLst>
                </a:gridCol>
              </a:tblGrid>
              <a:tr h="444180">
                <a:tc>
                  <a:txBody>
                    <a:bodyPr/>
                    <a:lstStyle/>
                    <a:p>
                      <a:pPr algn="ctr"/>
                      <a:r>
                        <a:rPr lang="es-ES_tradnl" sz="1000" b="1" dirty="0">
                          <a:latin typeface="Arial" pitchFamily="34" charset="0"/>
                          <a:cs typeface="Arial" pitchFamily="34" charset="0"/>
                        </a:rPr>
                        <a:t>REGISTRO Nº 5</a:t>
                      </a:r>
                      <a:endParaRPr lang="es-ES" sz="1000" b="1" dirty="0">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ES_tradnl" sz="900" b="0" dirty="0">
                          <a:latin typeface="Arial" pitchFamily="34" charset="0"/>
                          <a:cs typeface="Arial" pitchFamily="34" charset="0"/>
                        </a:rPr>
                        <a:t>REGISTROS  </a:t>
                      </a:r>
                      <a:r>
                        <a:rPr lang="es-ES_tradnl" sz="900" b="1" dirty="0">
                          <a:latin typeface="Arial" pitchFamily="34" charset="0"/>
                          <a:cs typeface="Arial" pitchFamily="34" charset="0"/>
                        </a:rPr>
                        <a:t>ANUALES</a:t>
                      </a:r>
                      <a:r>
                        <a:rPr lang="es-ES_tradnl" sz="900" b="0" dirty="0">
                          <a:latin typeface="Arial" pitchFamily="34" charset="0"/>
                          <a:cs typeface="Arial" pitchFamily="34" charset="0"/>
                        </a:rPr>
                        <a:t> FUNCIONAMIENTO DE LAS INSTALACIONES, </a:t>
                      </a: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REVISION DE FORMA DE PULVERIZACION</a:t>
                      </a:r>
                    </a:p>
                    <a:p>
                      <a:pPr marL="0" marR="0" lvl="0" indent="0" algn="ctr" defTabSz="914400" rtl="0" eaLnBrk="0" fontAlgn="base" latinLnBrk="0" hangingPunct="0">
                        <a:lnSpc>
                          <a:spcPct val="100000"/>
                        </a:lnSpc>
                        <a:spcBef>
                          <a:spcPct val="0"/>
                        </a:spcBef>
                        <a:spcAft>
                          <a:spcPct val="0"/>
                        </a:spcAft>
                        <a:buClrTx/>
                        <a:buSzTx/>
                        <a:buFontTx/>
                        <a:buNone/>
                        <a:tabLst/>
                        <a:defRPr/>
                      </a:pPr>
                      <a:r>
                        <a:rPr lang="es-ES" sz="900" b="0" kern="1200" dirty="0">
                          <a:solidFill>
                            <a:schemeClr val="tx1"/>
                          </a:solidFill>
                          <a:latin typeface="Arial" pitchFamily="34" charset="0"/>
                          <a:ea typeface="+mn-ea"/>
                          <a:cs typeface="Arial" pitchFamily="34" charset="0"/>
                        </a:rPr>
                        <a:t> Y LAVADO MANUAL DE FILTROS </a:t>
                      </a:r>
                      <a:r>
                        <a:rPr kumimoji="0" lang="es-ES" sz="900" b="0" i="0" u="none" strike="noStrike" cap="none" normalizeH="0" baseline="0" dirty="0">
                          <a:ln>
                            <a:noFill/>
                          </a:ln>
                          <a:solidFill>
                            <a:schemeClr val="tx1"/>
                          </a:solidFill>
                          <a:effectLst/>
                          <a:latin typeface="Arial" pitchFamily="34" charset="0"/>
                          <a:cs typeface="Arial" pitchFamily="34" charset="0"/>
                        </a:rPr>
                        <a:t>S/PROTOCOLO COMUN Nº 4</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marL="91439" marR="9143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l"/>
                      <a:endParaRPr lang="es-ES" sz="1100" b="1" dirty="0">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tx1"/>
                          </a:solidFill>
                          <a:effectLst/>
                          <a:latin typeface="Arial" pitchFamily="34" charset="0"/>
                          <a:cs typeface="Arial" pitchFamily="34" charset="0"/>
                        </a:rPr>
                        <a:t>FECHA:</a:t>
                      </a: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lgn="ctr"/>
                      <a:endParaRPr lang="es-ES" sz="1100" b="1" dirty="0">
                        <a:latin typeface="Arial" pitchFamily="34" charset="0"/>
                        <a:cs typeface="Arial" pitchFamily="34"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r h="399578">
                <a:tc>
                  <a:txBody>
                    <a:bodyPr/>
                    <a:lstStyle/>
                    <a:p>
                      <a:pPr algn="ctr"/>
                      <a:r>
                        <a:rPr kumimoji="0" lang="es-ES" sz="900" b="0" i="0" u="none" strike="noStrike" cap="none" normalizeH="0" baseline="0" dirty="0">
                          <a:ln>
                            <a:noFill/>
                          </a:ln>
                          <a:solidFill>
                            <a:schemeClr val="tx1"/>
                          </a:solidFill>
                          <a:effectLst/>
                          <a:latin typeface="Arial" pitchFamily="34" charset="0"/>
                          <a:cs typeface="Arial" pitchFamily="34" charset="0"/>
                        </a:rPr>
                        <a:t>ACTIVIDAD</a:t>
                      </a:r>
                      <a:endParaRPr lang="es-ES" sz="900" b="0" dirty="0">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ESTADO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5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ACCION REALIZADA</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600" b="0" dirty="0">
                          <a:latin typeface="Arial" pitchFamily="34" charset="0"/>
                          <a:cs typeface="Arial" pitchFamily="34" charset="0"/>
                        </a:rPr>
                        <a:t>FIRMA RESPON-SABLE TAREAS</a:t>
                      </a:r>
                      <a:endParaRPr lang="es-ES" sz="600" b="0" dirty="0">
                        <a:latin typeface="Arial" pitchFamily="34" charset="0"/>
                        <a:cs typeface="Arial" pitchFamily="34" charset="0"/>
                      </a:endParaRPr>
                    </a:p>
                  </a:txBody>
                  <a:tcPr marL="43826" marR="43826" marT="21913" marB="2191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solidFill>
                      <a:srgbClr val="00B0F0"/>
                    </a:solidFill>
                  </a:tcPr>
                </a:tc>
                <a:extLst>
                  <a:ext uri="{0D108BD9-81ED-4DB2-BD59-A6C34878D82A}">
                    <a16:rowId xmlns:a16="http://schemas.microsoft.com/office/drawing/2014/main" val="10001"/>
                  </a:ext>
                </a:extLst>
              </a:tr>
              <a:tr h="150973">
                <a:tc rowSpan="16">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ES" sz="800" b="0" i="0" u="none" strike="noStrike" cap="none" normalizeH="0" baseline="0" dirty="0">
                          <a:ln>
                            <a:noFill/>
                          </a:ln>
                          <a:solidFill>
                            <a:schemeClr val="tx1"/>
                          </a:solidFill>
                          <a:effectLst/>
                          <a:latin typeface="Arial" pitchFamily="34" charset="0"/>
                          <a:cs typeface="Arial" pitchFamily="34" charset="0"/>
                        </a:rPr>
                        <a:t>REVISION GENERAL DEL FUNCIONAMIENTO DE LA INSTALACION</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rowSpan="48">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1517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Arial" pitchFamily="34" charset="0"/>
                        <a:cs typeface="Arial" pitchFamily="34" charset="0"/>
                      </a:endParaRPr>
                    </a:p>
                  </a:txBody>
                  <a:tcPr marL="91439" marR="914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1517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6"/>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7"/>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8"/>
                  </a:ext>
                </a:extLst>
              </a:tr>
              <a:tr h="15171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0"/>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PRESENTA DEFICIENCIAS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2"/>
                  </a:ext>
                </a:extLst>
              </a:tr>
              <a:tr h="15338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3"/>
                  </a:ext>
                </a:extLst>
              </a:tr>
              <a:tr h="15338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4"/>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5"/>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6"/>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7"/>
                  </a:ext>
                </a:extLst>
              </a:tr>
              <a:tr h="153389">
                <a:tc vMerge="1">
                  <a:txBody>
                    <a:bodyPr/>
                    <a:lstStyle/>
                    <a:p>
                      <a:endParaRPr lang="es-E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9"/>
                  </a:ext>
                </a:extLst>
              </a:tr>
              <a:tr h="150973">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REVISION DE FORMA DE PULVERIZACION</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sz="900" b="0" i="0" u="none" strike="noStrike" cap="none" normalizeH="0" baseline="0" dirty="0">
                          <a:ln>
                            <a:noFill/>
                          </a:ln>
                          <a:solidFill>
                            <a:schemeClr val="tx1"/>
                          </a:solidFill>
                          <a:effectLst/>
                          <a:latin typeface="Arial" pitchFamily="34" charset="0"/>
                          <a:cs typeface="Arial" pitchFamily="34" charset="0"/>
                        </a:rPr>
                        <a:t> TODO CORRECTO</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0"/>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1"/>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2"/>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3"/>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4"/>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5"/>
                  </a:ext>
                </a:extLst>
              </a:tr>
              <a:tr h="15376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6"/>
                  </a:ext>
                </a:extLst>
              </a:tr>
              <a:tr h="15376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28"/>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cap="none" normalizeH="0" baseline="0" dirty="0">
                          <a:ln>
                            <a:noFill/>
                          </a:ln>
                          <a:solidFill>
                            <a:schemeClr val="tx1"/>
                          </a:solidFill>
                          <a:effectLst/>
                          <a:latin typeface="Arial" pitchFamily="34" charset="0"/>
                          <a:cs typeface="Arial" pitchFamily="34" charset="0"/>
                        </a:rPr>
                        <a:t>DEFECTOS EN LA SALIDA DE AGUA</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10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9"/>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0"/>
                  </a:ext>
                </a:extLst>
              </a:tr>
              <a:tr h="16541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1"/>
                  </a:ext>
                </a:extLst>
              </a:tr>
              <a:tr h="16541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2"/>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3"/>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4"/>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5"/>
                  </a:ext>
                </a:extLst>
              </a:tr>
              <a:tr h="165419">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cap="none" normalizeH="0" baseline="0" dirty="0">
                        <a:ln>
                          <a:noFill/>
                        </a:ln>
                        <a:solidFill>
                          <a:srgbClr val="000000"/>
                        </a:solidFill>
                        <a:effectLst/>
                        <a:latin typeface="Arial" pitchFamily="34" charset="0"/>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7"/>
                  </a:ext>
                </a:extLst>
              </a:tr>
              <a:tr h="150973">
                <a:tc rowSpan="1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cap="none" normalizeH="0" baseline="0" dirty="0">
                          <a:ln>
                            <a:noFill/>
                          </a:ln>
                          <a:solidFill>
                            <a:schemeClr val="tx1"/>
                          </a:solidFill>
                          <a:effectLst/>
                          <a:latin typeface="Arial" pitchFamily="34" charset="0"/>
                          <a:cs typeface="Arial" pitchFamily="34" charset="0"/>
                        </a:rPr>
                        <a:t>LAVADO MANUAL DE FILTROS</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sz="900" b="0" i="0" u="none" strike="noStrike" cap="none" normalizeH="0" baseline="0" dirty="0">
                          <a:ln>
                            <a:noFill/>
                          </a:ln>
                          <a:solidFill>
                            <a:schemeClr val="tx1"/>
                          </a:solidFill>
                          <a:effectLst/>
                          <a:latin typeface="Arial" pitchFamily="34" charset="0"/>
                          <a:cs typeface="Arial" pitchFamily="34" charset="0"/>
                        </a:rPr>
                        <a:t>LAVADO MANUAL</a:t>
                      </a: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38"/>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39"/>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0"/>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1"/>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2"/>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ES" sz="900" b="0" i="0" u="none" strike="noStrike" cap="none" normalizeH="0" baseline="0" dirty="0">
                        <a:ln>
                          <a:noFill/>
                        </a:ln>
                        <a:solidFill>
                          <a:schemeClr val="tx1"/>
                        </a:solidFill>
                        <a:effectLst/>
                        <a:latin typeface="Arial" pitchFamily="34" charset="0"/>
                        <a:cs typeface="Arial" pitchFamily="34" charset="0"/>
                      </a:endParaRPr>
                    </a:p>
                  </a:txBody>
                  <a:tcPr marL="43826" marR="43826" marT="21913" marB="219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3"/>
                  </a:ext>
                </a:extLst>
              </a:tr>
              <a:tr h="160781">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4"/>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6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6"/>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chemeClr val="tx1"/>
                      </a:solidFill>
                      <a:prstDash val="sysDot"/>
                      <a:round/>
                      <a:headEnd type="none" w="med" len="med"/>
                      <a:tailEnd type="none" w="med" len="med"/>
                    </a:lnB>
                    <a:lnTlToBr>
                      <a:noFill/>
                    </a:lnTlToBr>
                    <a:lnBlToTr>
                      <a:noFill/>
                    </a:lnBlToTr>
                    <a:noFill/>
                  </a:tcPr>
                </a:tc>
                <a:tc row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DEBERÍAN SUSTITUIRSE POR UNOS NUEVOS</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kumimoji="0" lang="es-ES" sz="900" b="0" i="0" u="none" strike="noStrike" kern="1200" cap="none" normalizeH="0" baseline="0" dirty="0">
                          <a:ln>
                            <a:noFill/>
                          </a:ln>
                          <a:solidFill>
                            <a:schemeClr val="tx1"/>
                          </a:solidFill>
                          <a:effectLst/>
                          <a:latin typeface="Arial" pitchFamily="34" charset="0"/>
                          <a:ea typeface="+mn-ea"/>
                          <a:cs typeface="Arial" pitchFamily="34" charset="0"/>
                        </a:rPr>
                        <a:t>LIMPIEZA Y DESINFECCION PREVIA SEGÚN PROTOCOLO  L+D Nº1</a:t>
                      </a:r>
                    </a:p>
                  </a:txBody>
                  <a:tcPr marL="43826" marR="43826" marT="21913" marB="21913"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8" hMerge="1">
                  <a:txBody>
                    <a:bodyPr/>
                    <a:lstStyle/>
                    <a:p>
                      <a:endParaRPr lang="es-ES"/>
                    </a:p>
                  </a:txBody>
                  <a:tcPr/>
                </a:tc>
                <a:tc vMerge="1">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700" b="0" i="0" u="none" strike="noStrike" cap="none" normalizeH="0" baseline="0" dirty="0">
                        <a:ln>
                          <a:noFill/>
                        </a:ln>
                        <a:solidFill>
                          <a:srgbClr val="000000"/>
                        </a:solidFill>
                        <a:effectLst/>
                        <a:latin typeface="Arial" pitchFamily="34" charset="0"/>
                        <a:cs typeface="Arial" pitchFamily="34"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47"/>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8"/>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49"/>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0"/>
                  </a:ext>
                </a:extLst>
              </a:tr>
              <a:tr h="150973">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1"/>
                  </a:ext>
                </a:extLst>
              </a:tr>
              <a:tr h="152405">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2"/>
                  </a:ext>
                </a:extLst>
              </a:tr>
              <a:tr h="152405">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3"/>
                  </a:ext>
                </a:extLst>
              </a:tr>
              <a:tr h="152405">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6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rgbClr val="000000"/>
                      </a:solidFill>
                      <a:prstDash val="solid"/>
                      <a:round/>
                      <a:headEnd type="none" w="sm" len="sm"/>
                      <a:tailEnd type="none" w="sm" len="sm"/>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endParaRPr kumimoji="0" lang="es-ES" sz="600" b="0" i="0" u="none" strike="noStrike" kern="1200" cap="none" normalizeH="0" baseline="0" dirty="0">
                        <a:ln>
                          <a:noFill/>
                        </a:ln>
                        <a:solidFill>
                          <a:schemeClr val="tx1"/>
                        </a:solidFill>
                        <a:effectLst/>
                        <a:latin typeface="Arial" pitchFamily="34" charset="0"/>
                        <a:ea typeface="+mn-ea"/>
                        <a:cs typeface="Arial" pitchFamily="34" charset="0"/>
                      </a:endParaRPr>
                    </a:p>
                  </a:txBody>
                  <a:tcPr marL="43826" marR="43826" marT="21913" marB="21913" anchor="ctr" horzOverflow="overflow">
                    <a:lnL w="12700" cap="flat" cmpd="sng" algn="ctr">
                      <a:solidFill>
                        <a:schemeClr val="tx1"/>
                      </a:solidFill>
                      <a:prstDash val="sysDot"/>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chemeClr val="tx1"/>
                      </a:solidFill>
                      <a:prstDash val="sysDot"/>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es-ES"/>
                    </a:p>
                  </a:txBody>
                  <a:tcPr/>
                </a:tc>
                <a:tc gridSpan="2" vMerge="1">
                  <a:txBody>
                    <a:bodyPr/>
                    <a:lstStyle/>
                    <a:p>
                      <a:endParaRPr lang="es-ES"/>
                    </a:p>
                  </a:txBody>
                  <a:tcPr/>
                </a:tc>
                <a:tc hMerge="1"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55"/>
                  </a:ext>
                </a:extLst>
              </a:tr>
            </a:tbl>
          </a:graphicData>
        </a:graphic>
      </p:graphicFrame>
      <p:sp>
        <p:nvSpPr>
          <p:cNvPr id="5" name="Rectangle 2"/>
          <p:cNvSpPr txBox="1">
            <a:spLocks noChangeArrowheads="1"/>
          </p:cNvSpPr>
          <p:nvPr/>
        </p:nvSpPr>
        <p:spPr bwMode="auto">
          <a:xfrm>
            <a:off x="2060848" y="9705528"/>
            <a:ext cx="2675281" cy="200472"/>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3864179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88640" y="1496616"/>
            <a:ext cx="6624736" cy="5688632"/>
          </a:xfrm>
          <a:noFill/>
          <a:effectLst>
            <a:prstShdw prst="shdw15">
              <a:schemeClr val="bg2"/>
            </a:prstShdw>
          </a:effectLst>
        </p:spPr>
        <p:txBody>
          <a:bodyPr/>
          <a:lstStyle/>
          <a:p>
            <a:pPr eaLnBrk="1" hangingPunct="1"/>
            <a:r>
              <a:rPr lang="es-ES_tradnl" sz="3600" dirty="0"/>
              <a:t>	4. Otros Registros: </a:t>
            </a:r>
            <a:br>
              <a:rPr lang="es-ES_tradnl" sz="3600" dirty="0"/>
            </a:br>
            <a:br>
              <a:rPr lang="es-ES_tradnl" sz="3600" dirty="0"/>
            </a:br>
            <a:r>
              <a:rPr lang="es-ES_tradnl" sz="2400" dirty="0"/>
              <a:t>Reg Nº 6</a:t>
            </a:r>
            <a:r>
              <a:rPr lang="es-ES_tradnl" sz="3600" dirty="0"/>
              <a:t>.- </a:t>
            </a:r>
            <a:r>
              <a:rPr lang="es-ES_tradnl" sz="2400" dirty="0"/>
              <a:t>Otras Operaciones de Mantenimiento. Incidencias y Medidas Adoptadas</a:t>
            </a:r>
            <a:br>
              <a:rPr lang="es-ES_tradnl" sz="2400" dirty="0"/>
            </a:br>
            <a:r>
              <a:rPr lang="es-ES_tradnl" sz="2400" dirty="0"/>
              <a:t>Reg Nº 7.- Paradas y Puestas en Marcha Técnicas</a:t>
            </a:r>
            <a:br>
              <a:rPr lang="es-ES_tradnl" sz="2400" dirty="0"/>
            </a:br>
            <a:r>
              <a:rPr lang="es-ES_tradnl" sz="2400" dirty="0"/>
              <a:t>Reg Nº 8.- Mantenimiento de Equipos e Instalaciones</a:t>
            </a:r>
            <a:br>
              <a:rPr lang="es-ES_tradnl" sz="2400" dirty="0"/>
            </a:br>
            <a:r>
              <a:rPr lang="es-ES_tradnl" sz="2400" dirty="0"/>
              <a:t>Reg Nº 9.- Revisión Documental</a:t>
            </a:r>
            <a:br>
              <a:rPr lang="es-ES_tradnl" sz="2400" dirty="0"/>
            </a:br>
            <a:endParaRPr lang="es-ES" sz="2400" dirty="0"/>
          </a:p>
        </p:txBody>
      </p:sp>
    </p:spTree>
    <p:extLst>
      <p:ext uri="{BB962C8B-B14F-4D97-AF65-F5344CB8AC3E}">
        <p14:creationId xmlns:p14="http://schemas.microsoft.com/office/powerpoint/2010/main" val="1744063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807" name="Group 63"/>
          <p:cNvGraphicFramePr>
            <a:graphicFrameLocks noGrp="1"/>
          </p:cNvGraphicFramePr>
          <p:nvPr>
            <p:extLst>
              <p:ext uri="{D42A27DB-BD31-4B8C-83A1-F6EECF244321}">
                <p14:modId xmlns:p14="http://schemas.microsoft.com/office/powerpoint/2010/main" val="244907299"/>
              </p:ext>
            </p:extLst>
          </p:nvPr>
        </p:nvGraphicFramePr>
        <p:xfrm>
          <a:off x="22516" y="272480"/>
          <a:ext cx="6835483" cy="9000999"/>
        </p:xfrm>
        <a:graphic>
          <a:graphicData uri="http://schemas.openxmlformats.org/drawingml/2006/table">
            <a:tbl>
              <a:tblPr/>
              <a:tblGrid>
                <a:gridCol w="776761">
                  <a:extLst>
                    <a:ext uri="{9D8B030D-6E8A-4147-A177-3AD203B41FA5}">
                      <a16:colId xmlns:a16="http://schemas.microsoft.com/office/drawing/2014/main" val="20000"/>
                    </a:ext>
                  </a:extLst>
                </a:gridCol>
                <a:gridCol w="2917755">
                  <a:extLst>
                    <a:ext uri="{9D8B030D-6E8A-4147-A177-3AD203B41FA5}">
                      <a16:colId xmlns:a16="http://schemas.microsoft.com/office/drawing/2014/main" val="20001"/>
                    </a:ext>
                  </a:extLst>
                </a:gridCol>
                <a:gridCol w="2520280">
                  <a:extLst>
                    <a:ext uri="{9D8B030D-6E8A-4147-A177-3AD203B41FA5}">
                      <a16:colId xmlns:a16="http://schemas.microsoft.com/office/drawing/2014/main" val="20003"/>
                    </a:ext>
                  </a:extLst>
                </a:gridCol>
                <a:gridCol w="620687">
                  <a:extLst>
                    <a:ext uri="{9D8B030D-6E8A-4147-A177-3AD203B41FA5}">
                      <a16:colId xmlns:a16="http://schemas.microsoft.com/office/drawing/2014/main" val="20004"/>
                    </a:ext>
                  </a:extLst>
                </a:gridCol>
              </a:tblGrid>
              <a:tr h="571478">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000" b="1" i="0" u="none" strike="noStrike" cap="none" normalizeH="0" baseline="0" dirty="0">
                          <a:ln>
                            <a:noFill/>
                          </a:ln>
                          <a:solidFill>
                            <a:schemeClr val="tx1"/>
                          </a:solidFill>
                          <a:effectLst/>
                          <a:latin typeface="Arial" charset="0"/>
                        </a:rPr>
                        <a:t>REGISTRO Nº 6: OTRAS OPERACIONES DE MANTENIMIENTO. INCIDENCIAS Y MEDIDAS ADOPTADAS</a:t>
                      </a:r>
                    </a:p>
                  </a:txBody>
                  <a:tcPr marL="43831" marR="43831" marT="21918" marB="21918"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6142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000" b="0" i="0" u="none" strike="noStrike" cap="none" normalizeH="0" baseline="0" dirty="0">
                          <a:ln>
                            <a:noFill/>
                          </a:ln>
                          <a:solidFill>
                            <a:schemeClr val="tx1"/>
                          </a:solidFill>
                          <a:effectLst/>
                          <a:latin typeface="Arial" charset="0"/>
                        </a:rPr>
                        <a:t>FECHA</a:t>
                      </a:r>
                    </a:p>
                  </a:txBody>
                  <a:tcPr marL="43831" marR="43831" marT="21918" marB="21918"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000" b="0" i="0" u="none" strike="noStrike" cap="none" normalizeH="0" baseline="0" dirty="0">
                          <a:ln>
                            <a:noFill/>
                          </a:ln>
                          <a:solidFill>
                            <a:schemeClr val="tx1"/>
                          </a:solidFill>
                          <a:effectLst/>
                          <a:latin typeface="Arial" charset="0"/>
                        </a:rPr>
                        <a:t>INCIDENCIA</a:t>
                      </a:r>
                    </a:p>
                  </a:txBody>
                  <a:tcPr marL="43831" marR="43831" marT="21918" marB="21918"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000" b="0" i="0" u="none" strike="noStrike" cap="none" normalizeH="0" baseline="0" dirty="0">
                          <a:ln>
                            <a:noFill/>
                          </a:ln>
                          <a:solidFill>
                            <a:schemeClr val="tx1"/>
                          </a:solidFill>
                          <a:effectLst/>
                          <a:latin typeface="Arial" charset="0"/>
                        </a:rPr>
                        <a:t>MEDIDA ADOPTADA</a:t>
                      </a:r>
                    </a:p>
                  </a:txBody>
                  <a:tcPr marL="43831" marR="43831" marT="21918" marB="21918"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700" b="0" i="0" u="none" strike="noStrike" cap="none" normalizeH="0" baseline="0" dirty="0">
                          <a:ln>
                            <a:noFill/>
                          </a:ln>
                          <a:solidFill>
                            <a:schemeClr val="tx1"/>
                          </a:solidFill>
                          <a:effectLst/>
                          <a:latin typeface="Arial" charset="0"/>
                        </a:rPr>
                        <a:t>FIRMA RESPON-SABLE</a:t>
                      </a:r>
                    </a:p>
                  </a:txBody>
                  <a:tcPr marL="43831" marR="43831" marT="21918" marB="21918"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113155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13155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13407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13155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113407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113155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102091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400" b="0" i="0" u="none" strike="noStrike" cap="none" normalizeH="0" baseline="0" dirty="0">
                        <a:ln>
                          <a:noFill/>
                        </a:ln>
                        <a:solidFill>
                          <a:schemeClr val="tx1"/>
                        </a:solidFill>
                        <a:effectLst/>
                        <a:latin typeface="Arial" charset="0"/>
                      </a:endParaRPr>
                    </a:p>
                  </a:txBody>
                  <a:tcPr marL="43831" marR="43831" marT="21918" marB="2191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
        <p:nvSpPr>
          <p:cNvPr id="5"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3063576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Tabla"/>
          <p:cNvGraphicFramePr>
            <a:graphicFrameLocks noGrp="1"/>
          </p:cNvGraphicFramePr>
          <p:nvPr>
            <p:extLst>
              <p:ext uri="{D42A27DB-BD31-4B8C-83A1-F6EECF244321}">
                <p14:modId xmlns:p14="http://schemas.microsoft.com/office/powerpoint/2010/main" val="517884924"/>
              </p:ext>
            </p:extLst>
          </p:nvPr>
        </p:nvGraphicFramePr>
        <p:xfrm>
          <a:off x="118582" y="570836"/>
          <a:ext cx="6694793" cy="8270593"/>
        </p:xfrm>
        <a:graphic>
          <a:graphicData uri="http://schemas.openxmlformats.org/drawingml/2006/table">
            <a:tbl>
              <a:tblPr firstRow="1" bandRow="1">
                <a:tableStyleId>{5C22544A-7EE6-4342-B048-85BDC9FD1C3A}</a:tableStyleId>
              </a:tblPr>
              <a:tblGrid>
                <a:gridCol w="760773">
                  <a:extLst>
                    <a:ext uri="{9D8B030D-6E8A-4147-A177-3AD203B41FA5}">
                      <a16:colId xmlns:a16="http://schemas.microsoft.com/office/drawing/2014/main" val="20000"/>
                    </a:ext>
                  </a:extLst>
                </a:gridCol>
                <a:gridCol w="937906">
                  <a:extLst>
                    <a:ext uri="{9D8B030D-6E8A-4147-A177-3AD203B41FA5}">
                      <a16:colId xmlns:a16="http://schemas.microsoft.com/office/drawing/2014/main" val="20001"/>
                    </a:ext>
                  </a:extLst>
                </a:gridCol>
                <a:gridCol w="1548796">
                  <a:extLst>
                    <a:ext uri="{9D8B030D-6E8A-4147-A177-3AD203B41FA5}">
                      <a16:colId xmlns:a16="http://schemas.microsoft.com/office/drawing/2014/main" val="20002"/>
                    </a:ext>
                  </a:extLst>
                </a:gridCol>
                <a:gridCol w="2843277">
                  <a:extLst>
                    <a:ext uri="{9D8B030D-6E8A-4147-A177-3AD203B41FA5}">
                      <a16:colId xmlns:a16="http://schemas.microsoft.com/office/drawing/2014/main" val="20003"/>
                    </a:ext>
                  </a:extLst>
                </a:gridCol>
                <a:gridCol w="604041">
                  <a:extLst>
                    <a:ext uri="{9D8B030D-6E8A-4147-A177-3AD203B41FA5}">
                      <a16:colId xmlns:a16="http://schemas.microsoft.com/office/drawing/2014/main" val="20004"/>
                    </a:ext>
                  </a:extLst>
                </a:gridCol>
              </a:tblGrid>
              <a:tr h="548643">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cap="none" normalizeH="0" baseline="0" dirty="0">
                          <a:ln>
                            <a:noFill/>
                          </a:ln>
                          <a:solidFill>
                            <a:schemeClr val="tx1"/>
                          </a:solidFill>
                          <a:effectLst/>
                          <a:latin typeface="Arial" pitchFamily="34" charset="0"/>
                        </a:rPr>
                        <a:t>REGISTRO Nº 7 : PARADAS Y PUESTAS EN MARCHA TECNICAS</a:t>
                      </a:r>
                    </a:p>
                  </a:txBody>
                  <a:tcPr marL="28007" marR="28007" marT="14006" marB="14006"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s-ES" sz="900" b="0" dirty="0">
                          <a:solidFill>
                            <a:schemeClr val="tx1"/>
                          </a:solidFill>
                        </a:rPr>
                        <a:t>FIRMA </a:t>
                      </a:r>
                    </a:p>
                    <a:p>
                      <a:pPr algn="ctr"/>
                      <a:r>
                        <a:rPr lang="es-ES" sz="900" b="0" dirty="0">
                          <a:solidFill>
                            <a:schemeClr val="tx1"/>
                          </a:solidFill>
                        </a:rPr>
                        <a:t>RESPON-</a:t>
                      </a:r>
                    </a:p>
                    <a:p>
                      <a:pPr algn="ctr"/>
                      <a:r>
                        <a:rPr lang="es-ES" sz="900" b="0" dirty="0">
                          <a:solidFill>
                            <a:schemeClr val="tx1"/>
                          </a:solidFill>
                        </a:rPr>
                        <a:t>SABLE </a:t>
                      </a:r>
                    </a:p>
                    <a:p>
                      <a:pPr algn="ctr"/>
                      <a:r>
                        <a:rPr lang="es-ES" sz="900" b="0" dirty="0">
                          <a:solidFill>
                            <a:schemeClr val="tx1"/>
                          </a:solidFill>
                        </a:rPr>
                        <a:t>TAREAS</a:t>
                      </a:r>
                    </a:p>
                  </a:txBody>
                  <a:tcPr marL="28007" marR="28007" marT="14006" marB="14006"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551925">
                <a:tc>
                  <a:txBody>
                    <a:bodyPr/>
                    <a:lstStyle/>
                    <a:p>
                      <a:pPr algn="ctr"/>
                      <a:r>
                        <a:rPr lang="es-ES" sz="900" b="0" dirty="0">
                          <a:solidFill>
                            <a:schemeClr val="tx1"/>
                          </a:solidFill>
                        </a:rPr>
                        <a:t>FECHA</a:t>
                      </a:r>
                    </a:p>
                  </a:txBody>
                  <a:tcPr marL="28007" marR="28007" marT="14006" marB="140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s-ES" sz="900" b="0" dirty="0">
                          <a:solidFill>
                            <a:schemeClr val="tx1"/>
                          </a:solidFill>
                        </a:rPr>
                        <a:t>SISTEMA</a:t>
                      </a:r>
                    </a:p>
                  </a:txBody>
                  <a:tcPr marL="28007" marR="28007" marT="14006" marB="140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s-ES" sz="900" b="0" dirty="0">
                          <a:solidFill>
                            <a:schemeClr val="tx1"/>
                          </a:solidFill>
                        </a:rPr>
                        <a:t>PARADA</a:t>
                      </a:r>
                      <a:r>
                        <a:rPr lang="es-ES" sz="900" b="0" baseline="0" dirty="0">
                          <a:solidFill>
                            <a:schemeClr val="tx1"/>
                          </a:solidFill>
                        </a:rPr>
                        <a:t> </a:t>
                      </a:r>
                      <a:r>
                        <a:rPr lang="es-ES" sz="900" b="0" dirty="0">
                          <a:solidFill>
                            <a:schemeClr val="tx1"/>
                          </a:solidFill>
                        </a:rPr>
                        <a:t>/ PUESTA</a:t>
                      </a:r>
                      <a:r>
                        <a:rPr lang="es-ES" sz="900" b="0" baseline="0" dirty="0">
                          <a:solidFill>
                            <a:schemeClr val="tx1"/>
                          </a:solidFill>
                        </a:rPr>
                        <a:t> EN MARCHA</a:t>
                      </a:r>
                      <a:endParaRPr lang="es-ES" sz="900" b="0" dirty="0">
                        <a:solidFill>
                          <a:schemeClr val="tx1"/>
                        </a:solidFill>
                      </a:endParaRPr>
                    </a:p>
                  </a:txBody>
                  <a:tcPr marL="28007" marR="28007" marT="14006" marB="140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s-ES" sz="900" b="0" dirty="0">
                          <a:solidFill>
                            <a:schemeClr val="tx1"/>
                          </a:solidFill>
                        </a:rPr>
                        <a:t>MOTIVOS </a:t>
                      </a:r>
                    </a:p>
                  </a:txBody>
                  <a:tcPr marL="28007" marR="28007" marT="14006" marB="14006"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es-ES" sz="1000" b="1" dirty="0">
                        <a:solidFill>
                          <a:schemeClr val="tx1"/>
                        </a:solidFill>
                      </a:endParaRPr>
                    </a:p>
                  </a:txBody>
                  <a:tcPr marL="30341" marR="30341" marT="15173" marB="15173"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038916">
                <a:tc>
                  <a:txBody>
                    <a:bodyPr/>
                    <a:lstStyle/>
                    <a:p>
                      <a:endParaRPr lang="es-ES" sz="600" b="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b="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b="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b="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38916">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38916">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038916">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038916">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038916">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936529">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600" dirty="0">
                        <a:solidFill>
                          <a:schemeClr val="tx1"/>
                        </a:solidFill>
                      </a:endParaRPr>
                    </a:p>
                  </a:txBody>
                  <a:tcPr marL="28007" marR="28007" marT="14006" marB="1400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Rectangle 2"/>
          <p:cNvSpPr txBox="1">
            <a:spLocks noChangeArrowheads="1"/>
          </p:cNvSpPr>
          <p:nvPr/>
        </p:nvSpPr>
        <p:spPr bwMode="auto">
          <a:xfrm>
            <a:off x="1556792" y="9489504"/>
            <a:ext cx="3655791" cy="240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sz="923" dirty="0">
                <a:cs typeface="Arial" charset="0"/>
              </a:rPr>
              <a:t>RESPONSABLE TECNICO DE LA INSTALACIÓN:</a:t>
            </a:r>
          </a:p>
        </p:txBody>
      </p:sp>
    </p:spTree>
    <p:extLst>
      <p:ext uri="{BB962C8B-B14F-4D97-AF65-F5344CB8AC3E}">
        <p14:creationId xmlns:p14="http://schemas.microsoft.com/office/powerpoint/2010/main" val="2644741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graphicFrame>
        <p:nvGraphicFramePr>
          <p:cNvPr id="4" name="Group 63"/>
          <p:cNvGraphicFramePr>
            <a:graphicFrameLocks noGrp="1"/>
          </p:cNvGraphicFramePr>
          <p:nvPr>
            <p:extLst>
              <p:ext uri="{D42A27DB-BD31-4B8C-83A1-F6EECF244321}">
                <p14:modId xmlns:p14="http://schemas.microsoft.com/office/powerpoint/2010/main" val="2039496436"/>
              </p:ext>
            </p:extLst>
          </p:nvPr>
        </p:nvGraphicFramePr>
        <p:xfrm>
          <a:off x="0" y="416496"/>
          <a:ext cx="6872232" cy="2647678"/>
        </p:xfrm>
        <a:graphic>
          <a:graphicData uri="http://schemas.openxmlformats.org/drawingml/2006/table">
            <a:tbl>
              <a:tblPr/>
              <a:tblGrid>
                <a:gridCol w="1151873">
                  <a:extLst>
                    <a:ext uri="{9D8B030D-6E8A-4147-A177-3AD203B41FA5}">
                      <a16:colId xmlns:a16="http://schemas.microsoft.com/office/drawing/2014/main" val="20000"/>
                    </a:ext>
                  </a:extLst>
                </a:gridCol>
                <a:gridCol w="1042171">
                  <a:extLst>
                    <a:ext uri="{9D8B030D-6E8A-4147-A177-3AD203B41FA5}">
                      <a16:colId xmlns:a16="http://schemas.microsoft.com/office/drawing/2014/main" val="20001"/>
                    </a:ext>
                  </a:extLst>
                </a:gridCol>
                <a:gridCol w="81422">
                  <a:extLst>
                    <a:ext uri="{9D8B030D-6E8A-4147-A177-3AD203B41FA5}">
                      <a16:colId xmlns:a16="http://schemas.microsoft.com/office/drawing/2014/main" val="20002"/>
                    </a:ext>
                  </a:extLst>
                </a:gridCol>
                <a:gridCol w="3940651">
                  <a:extLst>
                    <a:ext uri="{9D8B030D-6E8A-4147-A177-3AD203B41FA5}">
                      <a16:colId xmlns:a16="http://schemas.microsoft.com/office/drawing/2014/main" val="20003"/>
                    </a:ext>
                  </a:extLst>
                </a:gridCol>
                <a:gridCol w="656115">
                  <a:extLst>
                    <a:ext uri="{9D8B030D-6E8A-4147-A177-3AD203B41FA5}">
                      <a16:colId xmlns:a16="http://schemas.microsoft.com/office/drawing/2014/main" val="20004"/>
                    </a:ext>
                  </a:extLst>
                </a:gridCol>
              </a:tblGrid>
              <a:tr h="384831">
                <a:tc>
                  <a:txBody>
                    <a:bodyPr/>
                    <a:lstStyle/>
                    <a:p>
                      <a:pPr algn="ctr"/>
                      <a:r>
                        <a:rPr kumimoji="0" lang="es-ES" sz="900" b="1" i="0" u="none" strike="noStrike" cap="none" normalizeH="0" baseline="0" dirty="0">
                          <a:ln>
                            <a:noFill/>
                          </a:ln>
                          <a:solidFill>
                            <a:schemeClr val="tx1"/>
                          </a:solidFill>
                          <a:effectLst/>
                          <a:latin typeface="Arial" charset="0"/>
                        </a:rPr>
                        <a:t>REGISTRO Nº 8</a:t>
                      </a:r>
                      <a:endParaRPr lang="es-ES" sz="900" dirty="0"/>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charset="0"/>
                        </a:rPr>
                        <a:t>MANTENIMIENTO DE EQUIPOS E INSTALACIONES</a:t>
                      </a: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682937">
                <a:tc>
                  <a:txBody>
                    <a:bodyPr/>
                    <a:lstStyle/>
                    <a:p>
                      <a:pPr algn="ctr"/>
                      <a:r>
                        <a:rPr kumimoji="0" lang="es-ES" sz="800" b="0" i="0" u="none" strike="noStrike" kern="1200" cap="none" normalizeH="0" baseline="0" dirty="0">
                          <a:ln>
                            <a:noFill/>
                          </a:ln>
                          <a:solidFill>
                            <a:schemeClr val="tx1"/>
                          </a:solidFill>
                          <a:effectLst/>
                          <a:latin typeface="Arial" charset="0"/>
                          <a:ea typeface="+mn-ea"/>
                          <a:cs typeface="+mn-cs"/>
                        </a:rPr>
                        <a:t> FECHA</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OPERACIÓN</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ACCIÓN REALIZADA</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FIRMA RESPON-SABLE</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455224">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MANTENIMIENTO DE EQUIPO E INSTALACIÓN:</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LIMPIEZAS PARCIALES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45835">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REPARACIONES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323627">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VERIFICACIONES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455224">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OTRAS INCIDENCIAS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bl>
          </a:graphicData>
        </a:graphic>
      </p:graphicFrame>
      <p:sp>
        <p:nvSpPr>
          <p:cNvPr id="7" name="Rectangle 2"/>
          <p:cNvSpPr txBox="1">
            <a:spLocks noChangeArrowheads="1"/>
          </p:cNvSpPr>
          <p:nvPr/>
        </p:nvSpPr>
        <p:spPr bwMode="auto">
          <a:xfrm>
            <a:off x="175661" y="9129464"/>
            <a:ext cx="6520909" cy="415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70017" indent="-70017" eaLnBrk="1" hangingPunct="1">
              <a:buAutoNum type="arabicParenBoth"/>
            </a:pPr>
            <a:r>
              <a:rPr lang="es-ES_tradnl" sz="1050" dirty="0">
                <a:solidFill>
                  <a:srgbClr val="000000"/>
                </a:solidFill>
              </a:rPr>
              <a:t>Deberá indicarse la instalación o el equipo revisado y la fecha de realización del trabajo</a:t>
            </a:r>
          </a:p>
          <a:p>
            <a:pPr marL="70017" indent="-70017" eaLnBrk="1" hangingPunct="1">
              <a:buAutoNum type="arabicParenBoth"/>
            </a:pPr>
            <a:r>
              <a:rPr lang="es-ES_tradnl" sz="1050" dirty="0">
                <a:solidFill>
                  <a:srgbClr val="000000"/>
                </a:solidFill>
              </a:rPr>
              <a:t>Hacer una breve descripción del trabajo realizado y el motivo.</a:t>
            </a:r>
          </a:p>
        </p:txBody>
      </p:sp>
      <p:graphicFrame>
        <p:nvGraphicFramePr>
          <p:cNvPr id="10" name="Group 63"/>
          <p:cNvGraphicFramePr>
            <a:graphicFrameLocks noGrp="1"/>
          </p:cNvGraphicFramePr>
          <p:nvPr>
            <p:extLst>
              <p:ext uri="{D42A27DB-BD31-4B8C-83A1-F6EECF244321}">
                <p14:modId xmlns:p14="http://schemas.microsoft.com/office/powerpoint/2010/main" val="259271618"/>
              </p:ext>
            </p:extLst>
          </p:nvPr>
        </p:nvGraphicFramePr>
        <p:xfrm>
          <a:off x="-17403" y="3152800"/>
          <a:ext cx="6872232" cy="2808311"/>
        </p:xfrm>
        <a:graphic>
          <a:graphicData uri="http://schemas.openxmlformats.org/drawingml/2006/table">
            <a:tbl>
              <a:tblPr/>
              <a:tblGrid>
                <a:gridCol w="1151873">
                  <a:extLst>
                    <a:ext uri="{9D8B030D-6E8A-4147-A177-3AD203B41FA5}">
                      <a16:colId xmlns:a16="http://schemas.microsoft.com/office/drawing/2014/main" val="20000"/>
                    </a:ext>
                  </a:extLst>
                </a:gridCol>
                <a:gridCol w="1042171">
                  <a:extLst>
                    <a:ext uri="{9D8B030D-6E8A-4147-A177-3AD203B41FA5}">
                      <a16:colId xmlns:a16="http://schemas.microsoft.com/office/drawing/2014/main" val="20001"/>
                    </a:ext>
                  </a:extLst>
                </a:gridCol>
                <a:gridCol w="81422">
                  <a:extLst>
                    <a:ext uri="{9D8B030D-6E8A-4147-A177-3AD203B41FA5}">
                      <a16:colId xmlns:a16="http://schemas.microsoft.com/office/drawing/2014/main" val="20002"/>
                    </a:ext>
                  </a:extLst>
                </a:gridCol>
                <a:gridCol w="3940651">
                  <a:extLst>
                    <a:ext uri="{9D8B030D-6E8A-4147-A177-3AD203B41FA5}">
                      <a16:colId xmlns:a16="http://schemas.microsoft.com/office/drawing/2014/main" val="20003"/>
                    </a:ext>
                  </a:extLst>
                </a:gridCol>
                <a:gridCol w="656115">
                  <a:extLst>
                    <a:ext uri="{9D8B030D-6E8A-4147-A177-3AD203B41FA5}">
                      <a16:colId xmlns:a16="http://schemas.microsoft.com/office/drawing/2014/main" val="20004"/>
                    </a:ext>
                  </a:extLst>
                </a:gridCol>
              </a:tblGrid>
              <a:tr h="408179">
                <a:tc>
                  <a:txBody>
                    <a:bodyPr/>
                    <a:lstStyle/>
                    <a:p>
                      <a:pPr algn="ctr"/>
                      <a:r>
                        <a:rPr kumimoji="0" lang="es-ES" sz="900" b="1" i="0" u="none" strike="noStrike" cap="none" normalizeH="0" baseline="0" dirty="0">
                          <a:ln>
                            <a:noFill/>
                          </a:ln>
                          <a:solidFill>
                            <a:schemeClr val="tx1"/>
                          </a:solidFill>
                          <a:effectLst/>
                          <a:latin typeface="Arial" charset="0"/>
                        </a:rPr>
                        <a:t>REGISTRO Nº 8</a:t>
                      </a:r>
                      <a:endParaRPr lang="es-ES" sz="900" dirty="0"/>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charset="0"/>
                        </a:rPr>
                        <a:t>MANTENIMIENTO DE EQUIPOS E INSTALACIONES</a:t>
                      </a: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724371">
                <a:tc>
                  <a:txBody>
                    <a:bodyPr/>
                    <a:lstStyle/>
                    <a:p>
                      <a:pPr algn="ctr"/>
                      <a:r>
                        <a:rPr kumimoji="0" lang="es-ES" sz="800" b="0" i="0" u="none" strike="noStrike" kern="1200" cap="none" normalizeH="0" baseline="0" dirty="0">
                          <a:ln>
                            <a:noFill/>
                          </a:ln>
                          <a:solidFill>
                            <a:schemeClr val="tx1"/>
                          </a:solidFill>
                          <a:effectLst/>
                          <a:latin typeface="Arial" charset="0"/>
                          <a:ea typeface="+mn-ea"/>
                          <a:cs typeface="+mn-cs"/>
                        </a:rPr>
                        <a:t> FECHA</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OPERACIÓN</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ACCIÓN REALIZADA</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FIRMA RESPON-SABLE</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482842">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MANTENIMIENTO DE EQUIPO E INSTALACIÓN:</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LIMPIEZAS PARCIALES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816">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REPARACIONES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343261">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VERIFICACIONES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482842">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OTRAS INCIDENCIAS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bl>
          </a:graphicData>
        </a:graphic>
      </p:graphicFrame>
      <p:graphicFrame>
        <p:nvGraphicFramePr>
          <p:cNvPr id="11" name="Group 63"/>
          <p:cNvGraphicFramePr>
            <a:graphicFrameLocks noGrp="1"/>
          </p:cNvGraphicFramePr>
          <p:nvPr>
            <p:extLst>
              <p:ext uri="{D42A27DB-BD31-4B8C-83A1-F6EECF244321}">
                <p14:modId xmlns:p14="http://schemas.microsoft.com/office/powerpoint/2010/main" val="1035576930"/>
              </p:ext>
            </p:extLst>
          </p:nvPr>
        </p:nvGraphicFramePr>
        <p:xfrm>
          <a:off x="0" y="6033120"/>
          <a:ext cx="6872232" cy="2736305"/>
        </p:xfrm>
        <a:graphic>
          <a:graphicData uri="http://schemas.openxmlformats.org/drawingml/2006/table">
            <a:tbl>
              <a:tblPr/>
              <a:tblGrid>
                <a:gridCol w="1151873">
                  <a:extLst>
                    <a:ext uri="{9D8B030D-6E8A-4147-A177-3AD203B41FA5}">
                      <a16:colId xmlns:a16="http://schemas.microsoft.com/office/drawing/2014/main" val="20000"/>
                    </a:ext>
                  </a:extLst>
                </a:gridCol>
                <a:gridCol w="1042171">
                  <a:extLst>
                    <a:ext uri="{9D8B030D-6E8A-4147-A177-3AD203B41FA5}">
                      <a16:colId xmlns:a16="http://schemas.microsoft.com/office/drawing/2014/main" val="20001"/>
                    </a:ext>
                  </a:extLst>
                </a:gridCol>
                <a:gridCol w="81422">
                  <a:extLst>
                    <a:ext uri="{9D8B030D-6E8A-4147-A177-3AD203B41FA5}">
                      <a16:colId xmlns:a16="http://schemas.microsoft.com/office/drawing/2014/main" val="20002"/>
                    </a:ext>
                  </a:extLst>
                </a:gridCol>
                <a:gridCol w="3940651">
                  <a:extLst>
                    <a:ext uri="{9D8B030D-6E8A-4147-A177-3AD203B41FA5}">
                      <a16:colId xmlns:a16="http://schemas.microsoft.com/office/drawing/2014/main" val="20003"/>
                    </a:ext>
                  </a:extLst>
                </a:gridCol>
                <a:gridCol w="656115">
                  <a:extLst>
                    <a:ext uri="{9D8B030D-6E8A-4147-A177-3AD203B41FA5}">
                      <a16:colId xmlns:a16="http://schemas.microsoft.com/office/drawing/2014/main" val="20004"/>
                    </a:ext>
                  </a:extLst>
                </a:gridCol>
              </a:tblGrid>
              <a:tr h="397713">
                <a:tc>
                  <a:txBody>
                    <a:bodyPr/>
                    <a:lstStyle/>
                    <a:p>
                      <a:pPr algn="ctr"/>
                      <a:r>
                        <a:rPr kumimoji="0" lang="es-ES" sz="900" b="1" i="0" u="none" strike="noStrike" cap="none" normalizeH="0" baseline="0" dirty="0">
                          <a:ln>
                            <a:noFill/>
                          </a:ln>
                          <a:solidFill>
                            <a:schemeClr val="tx1"/>
                          </a:solidFill>
                          <a:effectLst/>
                          <a:latin typeface="Arial" charset="0"/>
                        </a:rPr>
                        <a:t>REGISTRO Nº 8</a:t>
                      </a:r>
                      <a:endParaRPr lang="es-ES" sz="900" dirty="0"/>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900" b="1" i="0" u="none" strike="noStrike" cap="none" normalizeH="0" baseline="0" dirty="0">
                          <a:ln>
                            <a:noFill/>
                          </a:ln>
                          <a:solidFill>
                            <a:schemeClr val="tx1"/>
                          </a:solidFill>
                          <a:effectLst/>
                          <a:latin typeface="Arial" charset="0"/>
                        </a:rPr>
                        <a:t>MANTENIMIENTO DE EQUIPOS E INSTALACIONES</a:t>
                      </a: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705797">
                <a:tc>
                  <a:txBody>
                    <a:bodyPr/>
                    <a:lstStyle/>
                    <a:p>
                      <a:pPr algn="ctr"/>
                      <a:r>
                        <a:rPr kumimoji="0" lang="es-ES" sz="800" b="0" i="0" u="none" strike="noStrike" kern="1200" cap="none" normalizeH="0" baseline="0" dirty="0">
                          <a:ln>
                            <a:noFill/>
                          </a:ln>
                          <a:solidFill>
                            <a:schemeClr val="tx1"/>
                          </a:solidFill>
                          <a:effectLst/>
                          <a:latin typeface="Arial" charset="0"/>
                          <a:ea typeface="+mn-ea"/>
                          <a:cs typeface="+mn-cs"/>
                        </a:rPr>
                        <a:t> FECHA</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OPERACIÓN</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ACCIÓN REALIZADA</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FIRMA RESPON-SABLE</a:t>
                      </a:r>
                    </a:p>
                  </a:txBody>
                  <a:tcPr marL="28011" marR="28011" marT="14007" marB="14007"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1"/>
                  </a:ext>
                </a:extLst>
              </a:tr>
              <a:tr h="470462">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MANTENIMIENTO DE EQUIPO E INSTALACIÓN:</a:t>
                      </a: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LIMPIEZAS PARCIALES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7411">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REPARACIONES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334460">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VERIFICACIONES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4"/>
                  </a:ext>
                </a:extLst>
              </a:tr>
              <a:tr h="470462">
                <a:tc vMerge="1">
                  <a:txBody>
                    <a:bodyPr/>
                    <a:lstStyle/>
                    <a:p>
                      <a:endParaRPr lang="es-E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800" b="0" i="0" u="none" strike="noStrike" kern="1200" cap="none" normalizeH="0" baseline="0" dirty="0">
                          <a:ln>
                            <a:noFill/>
                          </a:ln>
                          <a:solidFill>
                            <a:schemeClr val="tx1"/>
                          </a:solidFill>
                          <a:effectLst/>
                          <a:latin typeface="Arial" charset="0"/>
                          <a:ea typeface="+mn-ea"/>
                          <a:cs typeface="+mn-cs"/>
                        </a:rPr>
                        <a:t>OTRAS INCIDENCIAS</a:t>
                      </a:r>
                    </a:p>
                  </a:txBody>
                  <a:tcPr marL="28011" marR="28011" marT="14007" marB="14007"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900" b="1" i="0" u="none" strike="noStrike" kern="1200" cap="none" normalizeH="0" baseline="0" dirty="0">
                        <a:ln>
                          <a:noFill/>
                        </a:ln>
                        <a:solidFill>
                          <a:schemeClr val="tx1"/>
                        </a:solidFill>
                        <a:effectLst/>
                        <a:latin typeface="Arial" charset="0"/>
                        <a:ea typeface="+mn-ea"/>
                        <a:cs typeface="+mn-cs"/>
                      </a:endParaRPr>
                    </a:p>
                  </a:txBody>
                  <a:tcPr marL="28011" marR="28011" marT="14007" marB="14007"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8422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Tabla"/>
          <p:cNvGraphicFramePr>
            <a:graphicFrameLocks noGrp="1"/>
          </p:cNvGraphicFramePr>
          <p:nvPr>
            <p:extLst>
              <p:ext uri="{D42A27DB-BD31-4B8C-83A1-F6EECF244321}">
                <p14:modId xmlns:p14="http://schemas.microsoft.com/office/powerpoint/2010/main" val="2158130702"/>
              </p:ext>
            </p:extLst>
          </p:nvPr>
        </p:nvGraphicFramePr>
        <p:xfrm>
          <a:off x="0" y="332655"/>
          <a:ext cx="6858001" cy="9084841"/>
        </p:xfrm>
        <a:graphic>
          <a:graphicData uri="http://schemas.openxmlformats.org/drawingml/2006/table">
            <a:tbl>
              <a:tblPr firstRow="1" bandRow="1">
                <a:tableStyleId>{5C22544A-7EE6-4342-B048-85BDC9FD1C3A}</a:tableStyleId>
              </a:tblPr>
              <a:tblGrid>
                <a:gridCol w="62068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288032">
                  <a:extLst>
                    <a:ext uri="{9D8B030D-6E8A-4147-A177-3AD203B41FA5}">
                      <a16:colId xmlns:a16="http://schemas.microsoft.com/office/drawing/2014/main" val="20003"/>
                    </a:ext>
                  </a:extLst>
                </a:gridCol>
                <a:gridCol w="2592288">
                  <a:extLst>
                    <a:ext uri="{9D8B030D-6E8A-4147-A177-3AD203B41FA5}">
                      <a16:colId xmlns:a16="http://schemas.microsoft.com/office/drawing/2014/main" val="20004"/>
                    </a:ext>
                  </a:extLst>
                </a:gridCol>
                <a:gridCol w="620689">
                  <a:extLst>
                    <a:ext uri="{9D8B030D-6E8A-4147-A177-3AD203B41FA5}">
                      <a16:colId xmlns:a16="http://schemas.microsoft.com/office/drawing/2014/main" val="20005"/>
                    </a:ext>
                  </a:extLst>
                </a:gridCol>
              </a:tblGrid>
              <a:tr h="470779">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cap="none" normalizeH="0" baseline="0" dirty="0">
                          <a:ln>
                            <a:noFill/>
                          </a:ln>
                          <a:solidFill>
                            <a:schemeClr val="tx1"/>
                          </a:solidFill>
                          <a:effectLst/>
                          <a:latin typeface="Arial" pitchFamily="34" charset="0"/>
                        </a:rPr>
                        <a:t>REGISTRO Nº 9.  </a:t>
                      </a:r>
                      <a:r>
                        <a:rPr lang="es-ES" sz="1000" kern="1200" dirty="0">
                          <a:solidFill>
                            <a:schemeClr val="tx1"/>
                          </a:solidFill>
                        </a:rPr>
                        <a:t>REVISIÓN DOCUMENTAL</a:t>
                      </a:r>
                      <a:endParaRPr kumimoji="0" lang="es-ES" sz="1000" b="1" i="0" u="none" strike="noStrike" cap="none" normalizeH="0" baseline="0" dirty="0">
                        <a:ln>
                          <a:noFill/>
                        </a:ln>
                        <a:solidFill>
                          <a:schemeClr val="tx1"/>
                        </a:solidFill>
                        <a:effectLst/>
                        <a:latin typeface="Arial" pitchFamily="34" charset="0"/>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dirty="0"/>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86819">
                <a:tc>
                  <a:txBody>
                    <a:bodyPr/>
                    <a:lstStyle/>
                    <a:p>
                      <a:pPr algn="ctr"/>
                      <a:r>
                        <a:rPr lang="es-ES" sz="800" b="1" dirty="0">
                          <a:solidFill>
                            <a:schemeClr val="tx1"/>
                          </a:solidFill>
                        </a:rPr>
                        <a:t>FECHA</a:t>
                      </a: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s-ES" sz="700" b="1" dirty="0">
                          <a:solidFill>
                            <a:schemeClr val="tx1"/>
                          </a:solidFill>
                        </a:rPr>
                        <a:t>DOCUMENTACIÓN</a:t>
                      </a:r>
                      <a:r>
                        <a:rPr lang="es-ES" sz="700" b="1" baseline="0" dirty="0">
                          <a:solidFill>
                            <a:schemeClr val="tx1"/>
                          </a:solidFill>
                        </a:rPr>
                        <a:t> REVISADA</a:t>
                      </a:r>
                      <a:endParaRPr lang="es-ES" sz="700" b="1"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2">
                  <a:txBody>
                    <a:bodyPr/>
                    <a:lstStyle/>
                    <a:p>
                      <a:pPr algn="ctr"/>
                      <a:r>
                        <a:rPr lang="es-ES" sz="800" b="1" dirty="0">
                          <a:solidFill>
                            <a:schemeClr val="tx1"/>
                          </a:solidFill>
                        </a:rPr>
                        <a:t>RESULTADO DE LA REVISIÓN. INDICAR SI O NO</a:t>
                      </a: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es-ES"/>
                    </a:p>
                  </a:txBody>
                  <a:tcPr/>
                </a:tc>
                <a:tc>
                  <a:txBody>
                    <a:bodyPr/>
                    <a:lstStyle/>
                    <a:p>
                      <a:pPr algn="ctr"/>
                      <a:r>
                        <a:rPr lang="es-ES" sz="800" b="1" dirty="0">
                          <a:solidFill>
                            <a:schemeClr val="tx1"/>
                          </a:solidFill>
                        </a:rPr>
                        <a:t>MEDIDA ADOPTADA</a:t>
                      </a: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s-ES" sz="600" b="0" dirty="0">
                          <a:solidFill>
                            <a:schemeClr val="tx1"/>
                          </a:solidFill>
                        </a:rPr>
                        <a:t>FIRMA RESPON-SABLE</a:t>
                      </a: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328258">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algn="l"/>
                      <a:r>
                        <a:rPr lang="es-ES_tradnl" sz="700" dirty="0">
                          <a:solidFill>
                            <a:schemeClr val="tx1"/>
                          </a:solidFill>
                        </a:rPr>
                        <a:t>PLANOS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EXISTEN</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0072">
                <a:tc vMerge="1">
                  <a:txBody>
                    <a:bodyPr/>
                    <a:lstStyle/>
                    <a:p>
                      <a:endParaRPr lang="es-ES"/>
                    </a:p>
                  </a:txBody>
                  <a:tcPr/>
                </a:tc>
                <a:tc vMerge="1">
                  <a:txBody>
                    <a:bodyPr/>
                    <a:lstStyle/>
                    <a:p>
                      <a:endParaRPr lang="es-ES"/>
                    </a:p>
                  </a:txBody>
                  <a:tcPr/>
                </a:tc>
                <a:tc>
                  <a:txBody>
                    <a:bodyPr/>
                    <a:lstStyle/>
                    <a:p>
                      <a:pPr algn="l"/>
                      <a:r>
                        <a:rPr lang="es-ES" sz="700" dirty="0">
                          <a:solidFill>
                            <a:schemeClr val="tx1"/>
                          </a:solidFill>
                        </a:rPr>
                        <a:t>SE CORRESPONDEN CON LA REALIDAD</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3"/>
                  </a:ext>
                </a:extLst>
              </a:tr>
              <a:tr h="370714">
                <a:tc rowSpan="2">
                  <a:txBody>
                    <a:bodyPr/>
                    <a:lstStyle/>
                    <a:p>
                      <a:endParaRPr lang="es-ES" sz="110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algn="l"/>
                      <a:r>
                        <a:rPr lang="es-ES_tradnl" sz="700" dirty="0">
                          <a:solidFill>
                            <a:schemeClr val="tx1"/>
                          </a:solidFill>
                        </a:rPr>
                        <a:t>FICHAS DE SEGURIDAD</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EXISTEN</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714">
                <a:tc vMerge="1">
                  <a:txBody>
                    <a:bodyPr/>
                    <a:lstStyle/>
                    <a:p>
                      <a:endParaRPr lang="es-ES"/>
                    </a:p>
                  </a:txBody>
                  <a:tcPr/>
                </a:tc>
                <a:tc vMerge="1">
                  <a:txBody>
                    <a:bodyPr/>
                    <a:lstStyle/>
                    <a:p>
                      <a:endParaRPr lang="es-ES"/>
                    </a:p>
                  </a:txBody>
                  <a:tcPr/>
                </a:tc>
                <a:tc>
                  <a:txBody>
                    <a:bodyPr/>
                    <a:lstStyle/>
                    <a:p>
                      <a:pPr algn="l"/>
                      <a:r>
                        <a:rPr lang="es-ES" sz="700" dirty="0">
                          <a:solidFill>
                            <a:schemeClr val="tx1"/>
                          </a:solidFill>
                        </a:rPr>
                        <a:t>ESTAN ACTUALIZADAS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5"/>
                  </a:ext>
                </a:extLst>
              </a:tr>
              <a:tr h="328258">
                <a:tc rowSpan="2">
                  <a:txBody>
                    <a:bodyPr/>
                    <a:lstStyle/>
                    <a:p>
                      <a:endParaRPr lang="es-ES" sz="110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algn="l"/>
                      <a:r>
                        <a:rPr lang="es-ES_tradnl" sz="700" dirty="0">
                          <a:solidFill>
                            <a:schemeClr val="tx1"/>
                          </a:solidFill>
                        </a:rPr>
                        <a:t>PROTOCOLOS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ESTAN ACTUALIZADOS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8258">
                <a:tc vMerge="1">
                  <a:txBody>
                    <a:bodyPr/>
                    <a:lstStyle/>
                    <a:p>
                      <a:endParaRPr lang="es-ES"/>
                    </a:p>
                  </a:txBody>
                  <a:tcPr/>
                </a:tc>
                <a:tc vMerge="1">
                  <a:txBody>
                    <a:bodyPr/>
                    <a:lstStyle/>
                    <a:p>
                      <a:endParaRPr lang="es-ES"/>
                    </a:p>
                  </a:txBody>
                  <a:tcPr/>
                </a:tc>
                <a:tc>
                  <a:txBody>
                    <a:bodyPr/>
                    <a:lstStyle/>
                    <a:p>
                      <a:pPr algn="l"/>
                      <a:r>
                        <a:rPr lang="es-ES" sz="700" dirty="0">
                          <a:solidFill>
                            <a:schemeClr val="tx1"/>
                          </a:solidFill>
                        </a:rPr>
                        <a:t>ESTAN TODOS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07"/>
                  </a:ext>
                </a:extLst>
              </a:tr>
              <a:tr h="612795">
                <a:tc>
                  <a:txBody>
                    <a:bodyPr/>
                    <a:lstStyle/>
                    <a:p>
                      <a:endParaRPr lang="es-ES" sz="110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_tradnl" sz="700" dirty="0">
                          <a:solidFill>
                            <a:schemeClr val="tx1"/>
                          </a:solidFill>
                        </a:rPr>
                        <a:t>INVENTARIO DE</a:t>
                      </a:r>
                      <a:r>
                        <a:rPr lang="es-ES_tradnl" sz="700" baseline="0" dirty="0">
                          <a:solidFill>
                            <a:schemeClr val="tx1"/>
                          </a:solidFill>
                        </a:rPr>
                        <a:t> INSTALACIONES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SE CORRESPONDEN TODAS</a:t>
                      </a:r>
                      <a:r>
                        <a:rPr lang="es-ES" sz="700" baseline="0" dirty="0">
                          <a:solidFill>
                            <a:schemeClr val="tx1"/>
                          </a:solidFill>
                        </a:rPr>
                        <a:t> LAS INSTALACIONES CON LA REALIDAD</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612795">
                <a:tc>
                  <a:txBody>
                    <a:bodyPr/>
                    <a:lstStyle/>
                    <a:p>
                      <a:endParaRPr lang="es-ES" sz="110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700" dirty="0">
                          <a:solidFill>
                            <a:schemeClr val="tx1"/>
                          </a:solidFill>
                        </a:rPr>
                        <a:t>DESCRIPCIÓN DE INSTALACIONES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SE CORRESPONDEN TODAS</a:t>
                      </a:r>
                      <a:r>
                        <a:rPr lang="es-ES" sz="700" baseline="0" dirty="0">
                          <a:solidFill>
                            <a:schemeClr val="tx1"/>
                          </a:solidFill>
                        </a:rPr>
                        <a:t> LAS INSTALACIONES CON LA REALIDAD</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28258">
                <a:tc rowSpan="3">
                  <a:txBody>
                    <a:bodyPr/>
                    <a:lstStyle/>
                    <a:p>
                      <a:endParaRPr lang="es-ES" sz="110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3">
                  <a:txBody>
                    <a:bodyPr/>
                    <a:lstStyle/>
                    <a:p>
                      <a:pPr algn="l"/>
                      <a:r>
                        <a:rPr lang="es-ES_tradnl" sz="700" dirty="0">
                          <a:solidFill>
                            <a:schemeClr val="tx1"/>
                          </a:solidFill>
                        </a:rPr>
                        <a:t>REGISTROS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ESTAN TODOS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3">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440072">
                <a:tc vMerge="1">
                  <a:txBody>
                    <a:bodyPr/>
                    <a:lstStyle/>
                    <a:p>
                      <a:endParaRPr lang="es-ES"/>
                    </a:p>
                  </a:txBody>
                  <a:tcPr/>
                </a:tc>
                <a:tc vMerge="1">
                  <a:txBody>
                    <a:bodyPr/>
                    <a:lstStyle/>
                    <a:p>
                      <a:endParaRPr lang="es-ES"/>
                    </a:p>
                  </a:txBody>
                  <a:tcPr/>
                </a:tc>
                <a:tc>
                  <a:txBody>
                    <a:bodyPr/>
                    <a:lstStyle/>
                    <a:p>
                      <a:pPr algn="l"/>
                      <a:r>
                        <a:rPr lang="es-ES" sz="700" dirty="0">
                          <a:solidFill>
                            <a:schemeClr val="tx1"/>
                          </a:solidFill>
                        </a:rPr>
                        <a:t>ESTAN CORRECTAMENTE CUMPLIMENTADOS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1"/>
                  </a:ext>
                </a:extLst>
              </a:tr>
              <a:tr h="544316">
                <a:tc vMerge="1">
                  <a:txBody>
                    <a:bodyPr/>
                    <a:lstStyle/>
                    <a:p>
                      <a:endParaRPr lang="es-ES"/>
                    </a:p>
                  </a:txBody>
                  <a:tcPr/>
                </a:tc>
                <a:tc vMerge="1">
                  <a:txBody>
                    <a:bodyPr/>
                    <a:lstStyle/>
                    <a:p>
                      <a:endParaRPr lang="es-ES"/>
                    </a:p>
                  </a:txBody>
                  <a:tcPr/>
                </a:tc>
                <a:tc>
                  <a:txBody>
                    <a:bodyPr/>
                    <a:lstStyle/>
                    <a:p>
                      <a:pPr algn="l"/>
                      <a:r>
                        <a:rPr lang="es-ES" sz="700" dirty="0">
                          <a:solidFill>
                            <a:schemeClr val="tx1"/>
                          </a:solidFill>
                        </a:rPr>
                        <a:t>ESTAN FIRMADOS POR LOS RESPECTIVOS RESPONSABLES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2"/>
                  </a:ext>
                </a:extLst>
              </a:tr>
              <a:tr h="544431">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_tradnl" sz="700" dirty="0">
                          <a:solidFill>
                            <a:schemeClr val="tx1"/>
                          </a:solidFill>
                        </a:rPr>
                        <a:t>EVALUACIÓNES DE RIESGO</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ESTAN ACTUALIZADAS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77480">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r>
                        <a:rPr lang="es-ES_tradnl" sz="700" dirty="0">
                          <a:solidFill>
                            <a:schemeClr val="tx1"/>
                          </a:solidFill>
                        </a:rPr>
                        <a:t>Nº DE ANÁLISIS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ESTÁN TODAS TOMADAS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440072">
                <a:tc vMerge="1">
                  <a:txBody>
                    <a:bodyPr/>
                    <a:lstStyle/>
                    <a:p>
                      <a:endParaRPr lang="es-ES"/>
                    </a:p>
                  </a:txBody>
                  <a:tcPr/>
                </a:tc>
                <a:tc vMerge="1">
                  <a:txBody>
                    <a:bodyPr/>
                    <a:lstStyle/>
                    <a:p>
                      <a:endParaRPr lang="es-ES"/>
                    </a:p>
                  </a:txBody>
                  <a:tcPr/>
                </a:tc>
                <a:tc>
                  <a:txBody>
                    <a:bodyPr/>
                    <a:lstStyle/>
                    <a:p>
                      <a:pPr marL="0" marR="0" indent="0" algn="l" defTabSz="633039" rtl="0" eaLnBrk="1" fontAlgn="auto" latinLnBrk="0" hangingPunct="1">
                        <a:lnSpc>
                          <a:spcPct val="100000"/>
                        </a:lnSpc>
                        <a:spcBef>
                          <a:spcPts val="0"/>
                        </a:spcBef>
                        <a:spcAft>
                          <a:spcPts val="0"/>
                        </a:spcAft>
                        <a:buClrTx/>
                        <a:buSzTx/>
                        <a:buFontTx/>
                        <a:buNone/>
                        <a:tabLst/>
                        <a:defRPr/>
                      </a:pPr>
                      <a:r>
                        <a:rPr lang="es-ES" sz="700" dirty="0">
                          <a:solidFill>
                            <a:schemeClr val="tx1"/>
                          </a:solidFill>
                        </a:rPr>
                        <a:t>SE CORRESPONDEN CON EL CRONOGRAMA</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10015"/>
                  </a:ext>
                </a:extLst>
              </a:tr>
              <a:tr h="544316">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700" dirty="0">
                          <a:solidFill>
                            <a:schemeClr val="tx1"/>
                          </a:solidFill>
                        </a:rPr>
                        <a:t>RESULTADOS ANALITICOS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POSITIVOS. SE HAN LLEVADO A CABO LAS MEDIDAS ADOPTADAS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440072">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_tradnl" sz="700" dirty="0">
                          <a:solidFill>
                            <a:schemeClr val="tx1"/>
                          </a:solidFill>
                        </a:rPr>
                        <a:t>CERTIFICADOS L+D</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ESTAN CORRECTAMENTE CUMPLIMENTADOS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436290">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_tradnl" sz="700" dirty="0">
                          <a:solidFill>
                            <a:schemeClr val="tx1"/>
                          </a:solidFill>
                        </a:rPr>
                        <a:t>INCIDENCIAS</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ESTÁN ANOTADAS TODAS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440072">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_tradnl" sz="700" dirty="0">
                          <a:solidFill>
                            <a:schemeClr val="tx1"/>
                          </a:solidFill>
                        </a:rPr>
                        <a:t>PERSONAL</a:t>
                      </a:r>
                      <a:endParaRPr lang="es-ES" sz="7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s-ES" sz="700" dirty="0">
                          <a:solidFill>
                            <a:schemeClr val="tx1"/>
                          </a:solidFill>
                        </a:rPr>
                        <a:t>POSEE LOS CURSOS ACTUALIZADOS</a:t>
                      </a:r>
                    </a:p>
                  </a:txBody>
                  <a:tcPr marL="121919" marR="121919" marT="29222" marB="29222"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s-ES" sz="700" dirty="0">
                        <a:solidFill>
                          <a:schemeClr val="tx1"/>
                        </a:solidFill>
                      </a:endParaRPr>
                    </a:p>
                  </a:txBody>
                  <a:tcPr marL="121919" marR="121919" marT="29222" marB="29222"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100" dirty="0">
                        <a:solidFill>
                          <a:schemeClr val="tx1"/>
                        </a:solidFill>
                      </a:endParaRPr>
                    </a:p>
                  </a:txBody>
                  <a:tcPr marL="121919" marR="121919" marT="29222" marB="2922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100" dirty="0">
                        <a:solidFill>
                          <a:schemeClr val="tx1"/>
                        </a:solidFill>
                      </a:endParaRPr>
                    </a:p>
                  </a:txBody>
                  <a:tcPr marL="121919" marR="121919" marT="29222" marB="2922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bl>
          </a:graphicData>
        </a:graphic>
      </p:graphicFrame>
      <p:sp>
        <p:nvSpPr>
          <p:cNvPr id="4"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spTree>
    <p:extLst>
      <p:ext uri="{BB962C8B-B14F-4D97-AF65-F5344CB8AC3E}">
        <p14:creationId xmlns:p14="http://schemas.microsoft.com/office/powerpoint/2010/main" val="4116582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68760" y="2288704"/>
            <a:ext cx="4248472" cy="4680519"/>
          </a:xfrm>
          <a:noFill/>
          <a:effectLst>
            <a:prstShdw prst="shdw15">
              <a:schemeClr val="bg2"/>
            </a:prstShdw>
          </a:effectLst>
        </p:spPr>
        <p:txBody>
          <a:bodyPr/>
          <a:lstStyle/>
          <a:p>
            <a:pPr algn="ctr" eaLnBrk="1" hangingPunct="1"/>
            <a:r>
              <a:rPr lang="es-ES_tradnl" sz="3600" dirty="0"/>
              <a:t>5.Certificados de Limpieza y Desinfección</a:t>
            </a:r>
            <a:endParaRPr lang="es-E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32656" y="1496616"/>
            <a:ext cx="6336704" cy="5976664"/>
          </a:xfrm>
          <a:noFill/>
          <a:effectLst>
            <a:prstShdw prst="shdw15">
              <a:schemeClr val="bg2"/>
            </a:prstShdw>
          </a:effectLst>
        </p:spPr>
        <p:txBody>
          <a:bodyPr/>
          <a:lstStyle/>
          <a:p>
            <a:pPr eaLnBrk="1" hangingPunct="1"/>
            <a:r>
              <a:rPr lang="es-ES_tradnl" sz="3200" dirty="0"/>
              <a:t>6.Cronogramas de Toma de Muestras y Boletines de Resultados Analíticos.</a:t>
            </a:r>
            <a:br>
              <a:rPr lang="es-ES_tradnl" sz="3200" dirty="0"/>
            </a:br>
            <a:br>
              <a:rPr lang="es-ES_tradnl" sz="3200" dirty="0"/>
            </a:br>
            <a:r>
              <a:rPr lang="es-ES_tradnl" sz="3200" dirty="0"/>
              <a:t>Medidas a Adoptar en el Caso de Detección de Legionella spp y Seguimiento de Positivos</a:t>
            </a:r>
            <a:br>
              <a:rPr lang="es-ES_tradnl" sz="3200" dirty="0"/>
            </a:br>
            <a:br>
              <a:rPr lang="es-ES_tradnl" sz="3200" dirty="0"/>
            </a:br>
            <a:r>
              <a:rPr lang="es-ES_tradnl" sz="3200" dirty="0"/>
              <a:t>Certificados L+D en Caso de Detección de Legionella spp o Aerobios Totales </a:t>
            </a:r>
            <a:endParaRPr lang="es-E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 </a:t>
            </a:r>
          </a:p>
        </p:txBody>
      </p:sp>
      <p:sp>
        <p:nvSpPr>
          <p:cNvPr id="7" name="Rectangle 2"/>
          <p:cNvSpPr txBox="1">
            <a:spLocks noChangeArrowheads="1"/>
          </p:cNvSpPr>
          <p:nvPr/>
        </p:nvSpPr>
        <p:spPr bwMode="auto">
          <a:xfrm>
            <a:off x="2083005" y="9633520"/>
            <a:ext cx="2675281" cy="144016"/>
          </a:xfrm>
          <a:prstGeom prst="rect">
            <a:avLst/>
          </a:prstGeom>
          <a:noFill/>
          <a:ln w="9525">
            <a:noFill/>
            <a:miter lim="800000"/>
            <a:headEnd/>
            <a:tailEnd/>
          </a:ln>
        </p:spPr>
        <p:txBody>
          <a:bodyPr/>
          <a:lstStyle/>
          <a:p>
            <a:r>
              <a:rPr lang="es-ES_tradnl" sz="900" dirty="0">
                <a:cs typeface="Arial" charset="0"/>
              </a:rPr>
              <a:t>FIRMA RESPONSABLE DE LA INSTALACIÓN</a:t>
            </a:r>
            <a:r>
              <a:rPr lang="es-ES_tradnl" sz="692" dirty="0">
                <a:cs typeface="Arial" charset="0"/>
              </a:rPr>
              <a:t>:</a:t>
            </a:r>
          </a:p>
        </p:txBody>
      </p:sp>
      <p:graphicFrame>
        <p:nvGraphicFramePr>
          <p:cNvPr id="8" name="2 Tabla"/>
          <p:cNvGraphicFramePr>
            <a:graphicFrameLocks noGrp="1"/>
          </p:cNvGraphicFramePr>
          <p:nvPr>
            <p:extLst>
              <p:ext uri="{D42A27DB-BD31-4B8C-83A1-F6EECF244321}">
                <p14:modId xmlns:p14="http://schemas.microsoft.com/office/powerpoint/2010/main" val="3870882092"/>
              </p:ext>
            </p:extLst>
          </p:nvPr>
        </p:nvGraphicFramePr>
        <p:xfrm>
          <a:off x="145657" y="317698"/>
          <a:ext cx="6473851" cy="7210815"/>
        </p:xfrm>
        <a:graphic>
          <a:graphicData uri="http://schemas.openxmlformats.org/drawingml/2006/table">
            <a:tbl>
              <a:tblPr firstRow="1" bandRow="1">
                <a:tableStyleId>{5C22544A-7EE6-4342-B048-85BDC9FD1C3A}</a:tableStyleId>
              </a:tblPr>
              <a:tblGrid>
                <a:gridCol w="1447745">
                  <a:extLst>
                    <a:ext uri="{9D8B030D-6E8A-4147-A177-3AD203B41FA5}">
                      <a16:colId xmlns:a16="http://schemas.microsoft.com/office/drawing/2014/main" val="20000"/>
                    </a:ext>
                  </a:extLst>
                </a:gridCol>
                <a:gridCol w="2598516">
                  <a:extLst>
                    <a:ext uri="{9D8B030D-6E8A-4147-A177-3AD203B41FA5}">
                      <a16:colId xmlns:a16="http://schemas.microsoft.com/office/drawing/2014/main" val="20001"/>
                    </a:ext>
                  </a:extLst>
                </a:gridCol>
                <a:gridCol w="433803">
                  <a:extLst>
                    <a:ext uri="{9D8B030D-6E8A-4147-A177-3AD203B41FA5}">
                      <a16:colId xmlns:a16="http://schemas.microsoft.com/office/drawing/2014/main" val="20002"/>
                    </a:ext>
                  </a:extLst>
                </a:gridCol>
                <a:gridCol w="1539583">
                  <a:extLst>
                    <a:ext uri="{9D8B030D-6E8A-4147-A177-3AD203B41FA5}">
                      <a16:colId xmlns:a16="http://schemas.microsoft.com/office/drawing/2014/main" val="20003"/>
                    </a:ext>
                  </a:extLst>
                </a:gridCol>
                <a:gridCol w="454204">
                  <a:extLst>
                    <a:ext uri="{9D8B030D-6E8A-4147-A177-3AD203B41FA5}">
                      <a16:colId xmlns:a16="http://schemas.microsoft.com/office/drawing/2014/main" val="20004"/>
                    </a:ext>
                  </a:extLst>
                </a:gridCol>
              </a:tblGrid>
              <a:tr h="393904">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100" b="1" cap="all" baseline="0" dirty="0">
                          <a:solidFill>
                            <a:schemeClr val="tx1"/>
                          </a:solidFill>
                        </a:rPr>
                        <a:t>Cronogramas de Toma de Muestras y Boletines de Resultados Analíticos</a:t>
                      </a:r>
                      <a:r>
                        <a:rPr lang="es-ES_tradnl" sz="1100" b="0" cap="all" baseline="0" dirty="0">
                          <a:solidFill>
                            <a:schemeClr val="tx1"/>
                          </a:solidFill>
                        </a:rPr>
                        <a:t>.</a:t>
                      </a:r>
                      <a:endParaRPr kumimoji="0" lang="es-ES" sz="1100" b="0" i="0" u="none" strike="noStrike" cap="all" normalizeH="0" baseline="0" dirty="0">
                        <a:ln>
                          <a:noFill/>
                        </a:ln>
                        <a:solidFill>
                          <a:schemeClr val="tx1"/>
                        </a:solidFill>
                        <a:effectLst/>
                        <a:latin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a:p>
                  </a:txBody>
                  <a:tcPr/>
                </a:tc>
                <a:tc hMerge="1">
                  <a:txBody>
                    <a:bodyPr/>
                    <a:lstStyle/>
                    <a:p>
                      <a:endParaRPr lang="es-ES"/>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 dirty="0"/>
                    </a:p>
                  </a:txBody>
                  <a:tcPr marL="132079" marR="132079" marT="31652" marB="3165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9316">
                <a:tc>
                  <a:txBody>
                    <a:bodyPr/>
                    <a:lstStyle/>
                    <a:p>
                      <a:pPr algn="ctr"/>
                      <a:r>
                        <a:rPr lang="es-ES" sz="900" b="0" dirty="0">
                          <a:solidFill>
                            <a:schemeClr val="tx1"/>
                          </a:solidFill>
                          <a:latin typeface="Arial" panose="020B0604020202020204" pitchFamily="34" charset="0"/>
                          <a:cs typeface="Arial" panose="020B0604020202020204" pitchFamily="34" charset="0"/>
                        </a:rPr>
                        <a:t>FECHA</a:t>
                      </a: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_tradnl" sz="900" b="0" dirty="0">
                          <a:solidFill>
                            <a:schemeClr val="tx1"/>
                          </a:solidFill>
                          <a:latin typeface="Arial" panose="020B0604020202020204" pitchFamily="34" charset="0"/>
                          <a:cs typeface="Arial" panose="020B0604020202020204" pitchFamily="34" charset="0"/>
                        </a:rPr>
                        <a:t>PUNTO</a:t>
                      </a:r>
                      <a:r>
                        <a:rPr lang="es-ES_tradnl" sz="900" b="0" baseline="0" dirty="0">
                          <a:solidFill>
                            <a:schemeClr val="tx1"/>
                          </a:solidFill>
                          <a:latin typeface="Arial" panose="020B0604020202020204" pitchFamily="34" charset="0"/>
                          <a:cs typeface="Arial" panose="020B0604020202020204" pitchFamily="34" charset="0"/>
                        </a:rPr>
                        <a:t> DE MUESTREO</a:t>
                      </a:r>
                      <a:endParaRPr lang="es-ES" sz="900" b="0" dirty="0">
                        <a:solidFill>
                          <a:schemeClr val="tx1"/>
                        </a:solidFill>
                        <a:latin typeface="Arial" panose="020B0604020202020204" pitchFamily="34" charset="0"/>
                        <a:cs typeface="Arial" panose="020B0604020202020204" pitchFamily="34" charset="0"/>
                      </a:endParaRPr>
                    </a:p>
                  </a:txBody>
                  <a:tcPr marL="63304" marR="63304" marT="31657" marB="31657"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s-ES_tradnl" sz="900" b="0" dirty="0">
                          <a:solidFill>
                            <a:schemeClr val="tx1"/>
                          </a:solidFill>
                          <a:latin typeface="Arial" panose="020B0604020202020204" pitchFamily="34" charset="0"/>
                          <a:cs typeface="Arial" panose="020B0604020202020204" pitchFamily="34" charset="0"/>
                        </a:rPr>
                        <a:t>RESULTADO DEL ANÁLISIS</a:t>
                      </a:r>
                      <a:endParaRPr lang="es-ES" sz="900" b="0" dirty="0">
                        <a:solidFill>
                          <a:schemeClr val="tx1"/>
                        </a:solidFill>
                        <a:latin typeface="Arial" panose="020B0604020202020204" pitchFamily="34" charset="0"/>
                        <a:cs typeface="Arial" panose="020B0604020202020204" pitchFamily="34" charset="0"/>
                      </a:endParaRP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s-ES" sz="900" b="1" dirty="0">
                        <a:solidFill>
                          <a:schemeClr val="tx1"/>
                        </a:solidFill>
                        <a:latin typeface="Arial" panose="020B0604020202020204" pitchFamily="34" charset="0"/>
                        <a:cs typeface="Arial" panose="020B0604020202020204" pitchFamily="34" charset="0"/>
                      </a:endParaRPr>
                    </a:p>
                  </a:txBody>
                  <a:tcPr marL="91439" marR="91439" marT="45727" marB="4572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s-ES" sz="600" b="0" dirty="0">
                          <a:solidFill>
                            <a:schemeClr val="tx1"/>
                          </a:solidFill>
                          <a:latin typeface="Arial" panose="020B0604020202020204" pitchFamily="34" charset="0"/>
                          <a:cs typeface="Arial" panose="020B0604020202020204" pitchFamily="34" charset="0"/>
                        </a:rPr>
                        <a:t>FIRMA </a:t>
                      </a:r>
                    </a:p>
                    <a:p>
                      <a:pPr algn="ctr"/>
                      <a:r>
                        <a:rPr lang="es-ES" sz="600" b="0" dirty="0">
                          <a:solidFill>
                            <a:schemeClr val="tx1"/>
                          </a:solidFill>
                          <a:latin typeface="Arial" panose="020B0604020202020204" pitchFamily="34" charset="0"/>
                          <a:cs typeface="Arial" panose="020B0604020202020204" pitchFamily="34" charset="0"/>
                        </a:rPr>
                        <a:t>RESPON-SABLE</a:t>
                      </a: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79373">
                <a:tc rowSpan="8">
                  <a:txBody>
                    <a:bodyPr/>
                    <a:lstStyle/>
                    <a:p>
                      <a:pPr algn="ctr"/>
                      <a:endParaRPr lang="es-ES" sz="7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8">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latin typeface="Arial" pitchFamily="34" charset="0"/>
                          <a:cs typeface="Arial" pitchFamily="34" charset="0"/>
                        </a:rPr>
                        <a:t>RECUENTO TOTAL DE AEROBIOS</a:t>
                      </a:r>
                      <a:r>
                        <a:rPr lang="es-ES" sz="1000" baseline="0" dirty="0">
                          <a:solidFill>
                            <a:schemeClr val="tx1"/>
                          </a:solidFill>
                          <a:latin typeface="Arial" pitchFamily="34" charset="0"/>
                          <a:cs typeface="Arial" pitchFamily="34" charset="0"/>
                        </a:rPr>
                        <a:t> SEMESTRAL</a:t>
                      </a:r>
                    </a:p>
                  </a:txBody>
                  <a:tcPr marL="63304" marR="63304" marT="31657" marB="31657"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rowSpan="8">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79373">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3"/>
                  </a:ext>
                </a:extLst>
              </a:tr>
              <a:tr h="183185">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4"/>
                  </a:ext>
                </a:extLst>
              </a:tr>
              <a:tr h="17692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5"/>
                  </a:ext>
                </a:extLst>
              </a:tr>
              <a:tr h="125231">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6"/>
                  </a:ext>
                </a:extLst>
              </a:tr>
              <a:tr h="100237">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7"/>
                  </a:ext>
                </a:extLst>
              </a:tr>
              <a:tr h="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08"/>
                  </a:ext>
                </a:extLst>
              </a:tr>
              <a:tr h="125231">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8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800" kern="1200" dirty="0">
                        <a:solidFill>
                          <a:schemeClr val="tx1"/>
                        </a:solidFill>
                        <a:latin typeface="Arial" pitchFamily="34" charset="0"/>
                        <a:ea typeface="+mn-ea"/>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0"/>
                  </a:ext>
                </a:extLst>
              </a:tr>
              <a:tr h="189924">
                <a:tc rowSpan="8">
                  <a:txBody>
                    <a:bodyPr/>
                    <a:lstStyle/>
                    <a:p>
                      <a:pPr algn="ctr"/>
                      <a:endParaRPr lang="es-ES" sz="7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8">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latin typeface="Arial" pitchFamily="34" charset="0"/>
                          <a:cs typeface="Arial" pitchFamily="34" charset="0"/>
                        </a:rPr>
                        <a:t> RECUENTO TOTAL DE AEROBIOS</a:t>
                      </a:r>
                      <a:r>
                        <a:rPr lang="es-ES" sz="1000" baseline="0" dirty="0">
                          <a:solidFill>
                            <a:schemeClr val="tx1"/>
                          </a:solidFill>
                          <a:latin typeface="Arial" pitchFamily="34" charset="0"/>
                          <a:cs typeface="Arial" pitchFamily="34" charset="0"/>
                        </a:rPr>
                        <a:t> SEMESTRAL</a:t>
                      </a:r>
                    </a:p>
                  </a:txBody>
                  <a:tcPr marL="63304" marR="63304" marT="31657" marB="31657"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rowSpan="8">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89924">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2"/>
                  </a:ext>
                </a:extLst>
              </a:tr>
              <a:tr h="126799">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3"/>
                  </a:ext>
                </a:extLst>
              </a:tr>
              <a:tr h="169086">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4"/>
                  </a:ext>
                </a:extLst>
              </a:tr>
              <a:tr h="203281">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5"/>
                  </a:ext>
                </a:extLst>
              </a:tr>
              <a:tr h="175488">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6"/>
                  </a:ext>
                </a:extLst>
              </a:tr>
              <a:tr h="100237">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7"/>
                  </a:ext>
                </a:extLst>
              </a:tr>
              <a:tr h="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8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19"/>
                  </a:ext>
                </a:extLst>
              </a:tr>
              <a:tr h="189924">
                <a:tc rowSpan="8">
                  <a:txBody>
                    <a:bodyPr/>
                    <a:lstStyle/>
                    <a:p>
                      <a:pPr algn="ctr"/>
                      <a:endParaRPr lang="es-ES" sz="7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8">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000" kern="1200" baseline="0" dirty="0">
                          <a:solidFill>
                            <a:schemeClr val="tx1"/>
                          </a:solidFill>
                          <a:latin typeface="Arial" pitchFamily="34" charset="0"/>
                          <a:ea typeface="+mn-ea"/>
                          <a:cs typeface="Arial" pitchFamily="34" charset="0"/>
                        </a:rPr>
                        <a:t>LEGIONELLA SPP ANUAL</a:t>
                      </a:r>
                    </a:p>
                  </a:txBody>
                  <a:tcPr marL="63304" marR="63304" marT="31657" marB="31657"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LC</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rowSpan="8">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189924">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1"/>
                  </a:ext>
                </a:extLst>
              </a:tr>
              <a:tr h="16471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PAL</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2"/>
                  </a:ext>
                </a:extLst>
              </a:tr>
              <a:tr h="158445">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M</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3"/>
                  </a:ext>
                </a:extLst>
              </a:tr>
              <a:tr h="19264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P A</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4"/>
                  </a:ext>
                </a:extLst>
              </a:tr>
              <a:tr h="218743">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5"/>
                  </a:ext>
                </a:extLst>
              </a:tr>
              <a:tr h="227734">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700" kern="1200" dirty="0">
                          <a:solidFill>
                            <a:schemeClr val="tx1"/>
                          </a:solidFill>
                          <a:latin typeface="Arial" panose="020B0604020202020204" pitchFamily="34" charset="0"/>
                          <a:ea typeface="+mn-ea"/>
                          <a:cs typeface="Arial" panose="020B0604020202020204" pitchFamily="34" charset="0"/>
                        </a:rPr>
                        <a:t>L H G</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6"/>
                  </a:ext>
                </a:extLst>
              </a:tr>
              <a:tr h="0">
                <a:tc vMerge="1">
                  <a:txBody>
                    <a:bodyPr/>
                    <a:lstStyle/>
                    <a:p>
                      <a:endParaRPr lang="es-ES"/>
                    </a:p>
                  </a:txBody>
                  <a:tcPr/>
                </a:tc>
                <a:tc vMerge="1">
                  <a:txBody>
                    <a:bodyPr/>
                    <a:lstStyle/>
                    <a:p>
                      <a:endParaRPr lang="es-E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800" kern="1200" dirty="0">
                          <a:solidFill>
                            <a:schemeClr val="tx1"/>
                          </a:solidFill>
                          <a:latin typeface="Arial" panose="020B0604020202020204" pitchFamily="34" charset="0"/>
                          <a:ea typeface="+mn-ea"/>
                          <a:cs typeface="Arial" panose="020B0604020202020204" pitchFamily="34" charset="0"/>
                        </a:rPr>
                        <a:t>CS LH</a:t>
                      </a:r>
                    </a:p>
                  </a:txBody>
                  <a:tcPr marL="63304" marR="63304" marT="31657" marB="31657"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800" dirty="0">
                        <a:solidFill>
                          <a:schemeClr val="tx1"/>
                        </a:solidFill>
                        <a:latin typeface="Arial" pitchFamily="34" charset="0"/>
                        <a:cs typeface="Arial" pitchFamily="34" charset="0"/>
                      </a:endParaRPr>
                    </a:p>
                  </a:txBody>
                  <a:tcPr marL="63304" marR="63304" marT="31657" marB="3165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ES"/>
                    </a:p>
                  </a:txBody>
                  <a:tcPr/>
                </a:tc>
                <a:extLst>
                  <a:ext uri="{0D108BD9-81ED-4DB2-BD59-A6C34878D82A}">
                    <a16:rowId xmlns:a16="http://schemas.microsoft.com/office/drawing/2014/main" val="10028"/>
                  </a:ext>
                </a:extLst>
              </a:tr>
              <a:tr h="1871757">
                <a:tc gridSpan="5">
                  <a:txBody>
                    <a:bodyPr/>
                    <a:lstStyle/>
                    <a:p>
                      <a:r>
                        <a:rPr lang="es-ES_tradnl" sz="1000" dirty="0">
                          <a:cs typeface="Arial" charset="0"/>
                        </a:rPr>
                        <a:t>EN ESTE REGISTRO LA NOMENCLATURA DE LAS DISTINTAS  FUENTES SERÁ LA SIGUIENTE: </a:t>
                      </a:r>
                    </a:p>
                    <a:p>
                      <a:endParaRPr lang="es-ES_tradnl" sz="1000" dirty="0">
                        <a:cs typeface="Arial" charset="0"/>
                      </a:endParaRPr>
                    </a:p>
                    <a:p>
                      <a:pPr eaLnBrk="1" hangingPunct="1"/>
                      <a:r>
                        <a:rPr lang="es-ES" sz="1000" b="1" dirty="0">
                          <a:latin typeface="Arial" pitchFamily="34" charset="0"/>
                        </a:rPr>
                        <a:t>. </a:t>
                      </a:r>
                      <a:r>
                        <a:rPr lang="es-ES" sz="1000" dirty="0">
                          <a:latin typeface="Arial" pitchFamily="34" charset="0"/>
                        </a:rPr>
                        <a:t>LA CARRERA: </a:t>
                      </a:r>
                      <a:r>
                        <a:rPr lang="es-ES" sz="1000" b="1" dirty="0">
                          <a:latin typeface="Arial" pitchFamily="34" charset="0"/>
                        </a:rPr>
                        <a:t>L C</a:t>
                      </a:r>
                    </a:p>
                    <a:p>
                      <a:pPr eaLnBrk="1" hangingPunct="1"/>
                      <a:r>
                        <a:rPr lang="es-ES" sz="1000" b="1" dirty="0">
                          <a:latin typeface="Arial" pitchFamily="34" charset="0"/>
                        </a:rPr>
                        <a:t>. </a:t>
                      </a:r>
                      <a:r>
                        <a:rPr lang="es-ES" sz="1000" dirty="0">
                          <a:latin typeface="Arial" pitchFamily="34" charset="0"/>
                        </a:rPr>
                        <a:t>PLAZA MADRID: </a:t>
                      </a:r>
                      <a:r>
                        <a:rPr lang="es-ES" sz="1000" b="1" dirty="0">
                          <a:latin typeface="Arial" pitchFamily="34" charset="0"/>
                        </a:rPr>
                        <a:t>P M</a:t>
                      </a:r>
                    </a:p>
                    <a:p>
                      <a:pPr eaLnBrk="1" hangingPunct="1"/>
                      <a:r>
                        <a:rPr lang="es-ES" sz="1000" b="1" dirty="0">
                          <a:latin typeface="Arial" pitchFamily="34" charset="0"/>
                        </a:rPr>
                        <a:t>. </a:t>
                      </a:r>
                      <a:r>
                        <a:rPr lang="es-ES" sz="1000" dirty="0">
                          <a:latin typeface="Arial" pitchFamily="34" charset="0"/>
                        </a:rPr>
                        <a:t>PASEOS DEL ALTILLO</a:t>
                      </a:r>
                      <a:r>
                        <a:rPr lang="es-ES" sz="1000" b="1" dirty="0">
                          <a:latin typeface="Arial" pitchFamily="34" charset="0"/>
                        </a:rPr>
                        <a:t>: P AL</a:t>
                      </a:r>
                    </a:p>
                    <a:p>
                      <a:pPr eaLnBrk="1" hangingPunct="1"/>
                      <a:r>
                        <a:rPr lang="es-ES" sz="1000" b="1" dirty="0">
                          <a:latin typeface="Arial" pitchFamily="34" charset="0"/>
                        </a:rPr>
                        <a:t>. </a:t>
                      </a:r>
                      <a:r>
                        <a:rPr lang="es-ES" sz="1000" dirty="0">
                          <a:latin typeface="Arial" pitchFamily="34" charset="0"/>
                        </a:rPr>
                        <a:t>LOS MARINOS</a:t>
                      </a:r>
                      <a:r>
                        <a:rPr lang="es-ES" sz="1000" b="1" dirty="0">
                          <a:latin typeface="Arial" pitchFamily="34" charset="0"/>
                        </a:rPr>
                        <a:t>: L M</a:t>
                      </a:r>
                    </a:p>
                    <a:p>
                      <a:pPr eaLnBrk="1" hangingPunct="1"/>
                      <a:r>
                        <a:rPr lang="es-ES" sz="1000" b="1" dirty="0">
                          <a:latin typeface="Arial" pitchFamily="34" charset="0"/>
                        </a:rPr>
                        <a:t>. </a:t>
                      </a:r>
                      <a:r>
                        <a:rPr lang="es-ES" sz="1000" dirty="0">
                          <a:latin typeface="Arial" pitchFamily="34" charset="0"/>
                        </a:rPr>
                        <a:t>PLAZA ABDERRAMAN I: </a:t>
                      </a:r>
                      <a:r>
                        <a:rPr lang="es-ES" sz="1000" b="1" dirty="0">
                          <a:latin typeface="Arial" pitchFamily="34" charset="0"/>
                        </a:rPr>
                        <a:t>P A</a:t>
                      </a:r>
                    </a:p>
                    <a:p>
                      <a:pPr eaLnBrk="1" hangingPunct="1"/>
                      <a:r>
                        <a:rPr lang="es-ES" sz="1000" b="1" dirty="0">
                          <a:latin typeface="Arial" pitchFamily="34" charset="0"/>
                        </a:rPr>
                        <a:t>. </a:t>
                      </a:r>
                      <a:r>
                        <a:rPr lang="es-ES" sz="1000" dirty="0">
                          <a:latin typeface="Arial" pitchFamily="34" charset="0"/>
                        </a:rPr>
                        <a:t>LOS HIGUITOS: </a:t>
                      </a:r>
                      <a:r>
                        <a:rPr lang="es-ES" sz="1000" b="1" dirty="0">
                          <a:latin typeface="Arial" pitchFamily="34" charset="0"/>
                        </a:rPr>
                        <a:t>L H</a:t>
                      </a:r>
                    </a:p>
                    <a:p>
                      <a:pPr eaLnBrk="1" hangingPunct="1"/>
                      <a:r>
                        <a:rPr lang="es-ES" sz="1000" b="1" dirty="0">
                          <a:latin typeface="Arial" pitchFamily="34" charset="0"/>
                        </a:rPr>
                        <a:t>. </a:t>
                      </a:r>
                      <a:r>
                        <a:rPr lang="es-ES" sz="1000" dirty="0">
                          <a:latin typeface="Arial" pitchFamily="34" charset="0"/>
                        </a:rPr>
                        <a:t>PASEO ANDRES SEGOVIA CON AVDA PRIETO MORENO (La Herradura):  </a:t>
                      </a:r>
                      <a:r>
                        <a:rPr lang="es-ES" sz="1000" b="1" dirty="0">
                          <a:latin typeface="Arial" pitchFamily="34" charset="0"/>
                        </a:rPr>
                        <a:t>L H G</a:t>
                      </a:r>
                    </a:p>
                    <a:p>
                      <a:pPr eaLnBrk="1" hangingPunct="1"/>
                      <a:r>
                        <a:rPr lang="es-ES" sz="1000" b="1" dirty="0">
                          <a:latin typeface="Arial" pitchFamily="34" charset="0"/>
                        </a:rPr>
                        <a:t>. </a:t>
                      </a:r>
                      <a:r>
                        <a:rPr lang="es-ES" sz="1000" dirty="0">
                          <a:latin typeface="Arial" pitchFamily="34" charset="0"/>
                        </a:rPr>
                        <a:t>CENTRO DE SALUD (La Herradura): </a:t>
                      </a:r>
                      <a:r>
                        <a:rPr lang="es-ES" sz="1000" b="1" dirty="0">
                          <a:latin typeface="Arial" pitchFamily="34" charset="0"/>
                        </a:rPr>
                        <a:t>CS L H</a:t>
                      </a:r>
                    </a:p>
                  </a:txBody>
                  <a:tcPr marL="63304" marR="63304" marT="31657" marB="3165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sz="1050" kern="1200" baseline="0" dirty="0">
                        <a:solidFill>
                          <a:schemeClr val="tx1"/>
                        </a:solidFill>
                        <a:latin typeface="Arial" pitchFamily="34" charset="0"/>
                        <a:ea typeface="+mn-ea"/>
                        <a:cs typeface="Arial" pitchFamily="34" charset="0"/>
                      </a:endParaRPr>
                    </a:p>
                  </a:txBody>
                  <a:tcPr marL="91439" marR="91439" marT="45727" marB="4572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ES"/>
                    </a:p>
                  </a:txBody>
                  <a:tcPr/>
                </a:tc>
                <a:tc hMerge="1">
                  <a:txBody>
                    <a:bodyPr/>
                    <a:lstStyle/>
                    <a:p>
                      <a:endParaRPr lang="es-ES" sz="1200" dirty="0">
                        <a:solidFill>
                          <a:schemeClr val="tx1"/>
                        </a:solidFill>
                        <a:latin typeface="Arial" pitchFamily="34" charset="0"/>
                        <a:cs typeface="Arial" pitchFamily="34" charset="0"/>
                      </a:endParaRPr>
                    </a:p>
                  </a:txBody>
                  <a:tcPr marL="91439" marR="91439" marT="45727" marB="4572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ES" sz="1200" dirty="0">
                        <a:solidFill>
                          <a:schemeClr val="tx1"/>
                        </a:solidFill>
                        <a:latin typeface="Arial" pitchFamily="34" charset="0"/>
                        <a:cs typeface="Arial" pitchFamily="34" charset="0"/>
                      </a:endParaRPr>
                    </a:p>
                  </a:txBody>
                  <a:tcPr marL="91439" marR="91439" marT="45727" marB="4572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3332644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rot="16200000">
            <a:off x="-3369371" y="3974507"/>
            <a:ext cx="9361042" cy="1956986"/>
          </a:xfrm>
          <a:prstGeom prst="rect">
            <a:avLst/>
          </a:prstGeom>
        </p:spPr>
      </p:pic>
      <p:pic>
        <p:nvPicPr>
          <p:cNvPr id="6" name="Imagen 5"/>
          <p:cNvPicPr>
            <a:picLocks noChangeAspect="1"/>
          </p:cNvPicPr>
          <p:nvPr/>
        </p:nvPicPr>
        <p:blipFill>
          <a:blip r:embed="rId2"/>
          <a:stretch>
            <a:fillRect/>
          </a:stretch>
        </p:blipFill>
        <p:spPr>
          <a:xfrm rot="16200000">
            <a:off x="-1279240" y="3976407"/>
            <a:ext cx="9357242" cy="1956986"/>
          </a:xfrm>
          <a:prstGeom prst="rect">
            <a:avLst/>
          </a:prstGeom>
        </p:spPr>
      </p:pic>
      <p:pic>
        <p:nvPicPr>
          <p:cNvPr id="7" name="Imagen 6"/>
          <p:cNvPicPr>
            <a:picLocks noChangeAspect="1"/>
          </p:cNvPicPr>
          <p:nvPr/>
        </p:nvPicPr>
        <p:blipFill>
          <a:blip r:embed="rId2"/>
          <a:stretch>
            <a:fillRect/>
          </a:stretch>
        </p:blipFill>
        <p:spPr>
          <a:xfrm rot="16200000">
            <a:off x="807090" y="3974507"/>
            <a:ext cx="9361041" cy="1956986"/>
          </a:xfrm>
          <a:prstGeom prst="rect">
            <a:avLst/>
          </a:prstGeom>
        </p:spPr>
      </p:pic>
    </p:spTree>
    <p:extLst>
      <p:ext uri="{BB962C8B-B14F-4D97-AF65-F5344CB8AC3E}">
        <p14:creationId xmlns:p14="http://schemas.microsoft.com/office/powerpoint/2010/main" val="1626499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980728" y="3944888"/>
            <a:ext cx="5112568" cy="2308324"/>
          </a:xfrm>
          <a:prstGeom prst="rect">
            <a:avLst/>
          </a:prstGeom>
        </p:spPr>
        <p:txBody>
          <a:bodyPr wrap="square">
            <a:spAutoFit/>
          </a:bodyPr>
          <a:lstStyle/>
          <a:p>
            <a:r>
              <a:rPr lang="es-ES_tradnl" sz="3600" dirty="0">
                <a:latin typeface="+mj-lt"/>
                <a:ea typeface="+mj-ea"/>
                <a:cs typeface="+mj-cs"/>
              </a:rPr>
              <a:t>Certificados L+D en Caso de Detección de Legionella spp o Aerobios Totales </a:t>
            </a:r>
            <a:endParaRPr lang="es-ES" sz="3600" dirty="0">
              <a:latin typeface="+mj-lt"/>
              <a:ea typeface="+mj-ea"/>
              <a:cs typeface="+mj-cs"/>
            </a:endParaRPr>
          </a:p>
        </p:txBody>
      </p:sp>
    </p:spTree>
    <p:extLst>
      <p:ext uri="{BB962C8B-B14F-4D97-AF65-F5344CB8AC3E}">
        <p14:creationId xmlns:p14="http://schemas.microsoft.com/office/powerpoint/2010/main" val="1137180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52736" y="3368824"/>
            <a:ext cx="5256584" cy="3096344"/>
          </a:xfrm>
          <a:noFill/>
          <a:effectLst>
            <a:prstShdw prst="shdw15">
              <a:schemeClr val="bg2"/>
            </a:prstShdw>
          </a:effectLst>
        </p:spPr>
        <p:txBody>
          <a:bodyPr/>
          <a:lstStyle/>
          <a:p>
            <a:pPr algn="ctr" eaLnBrk="1" hangingPunct="1"/>
            <a:r>
              <a:rPr lang="es-ES_tradnl" sz="3600" dirty="0"/>
              <a:t>7.Actas de Inspección Sanitarias</a:t>
            </a:r>
            <a:endParaRPr lang="es-ES"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92696" y="2504728"/>
            <a:ext cx="5760640" cy="4752528"/>
          </a:xfrm>
          <a:noFill/>
          <a:effectLst>
            <a:prstShdw prst="shdw15">
              <a:schemeClr val="bg2"/>
            </a:prstShdw>
          </a:effectLst>
        </p:spPr>
        <p:txBody>
          <a:bodyPr/>
          <a:lstStyle/>
          <a:p>
            <a:pPr algn="ctr" eaLnBrk="1" hangingPunct="1"/>
            <a:r>
              <a:rPr lang="es-ES" sz="3600" dirty="0"/>
              <a:t>8. Partes de Trabajo MENSUALES y Deficiencias Técnicas Detectadas Por Sanisur.</a:t>
            </a:r>
          </a:p>
        </p:txBody>
      </p:sp>
    </p:spTree>
  </p:cSld>
  <p:clrMapOvr>
    <a:masterClrMapping/>
  </p:clrMapOvr>
</p:sld>
</file>

<file path=ppt/theme/theme1.xml><?xml version="1.0" encoding="utf-8"?>
<a:theme xmlns:a="http://schemas.openxmlformats.org/drawingml/2006/main" name="3_Píxel">
  <a:themeElements>
    <a:clrScheme name="Pí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fontScheme name="Pí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Pí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í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í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í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í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í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í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í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í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í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í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í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4073</TotalTime>
  <Words>4468</Words>
  <Application>Microsoft Office PowerPoint</Application>
  <PresentationFormat>A4 (210 x 297 mm)</PresentationFormat>
  <Paragraphs>555</Paragraphs>
  <Slides>30</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Noto Sans Symbols</vt:lpstr>
      <vt:lpstr>Times New Roman</vt:lpstr>
      <vt:lpstr>Wingdings</vt:lpstr>
      <vt:lpstr>3_Píxel</vt:lpstr>
      <vt:lpstr> Registros De  Mantenimiento  Fuentes Salobreña  Para La Prevención y Control De La Legionelosis En Instalaciones  Según RD 487/2022</vt:lpstr>
      <vt:lpstr>Presentación de PowerPoint</vt:lpstr>
      <vt:lpstr>1.-Definición y Declaración de Responsabilidades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2.-Programas De Mantenimiento</vt:lpstr>
      <vt:lpstr>Presentación de PowerPoint</vt:lpstr>
      <vt:lpstr>3.-Registros De Mantenimiento De Las Instalaciones </vt:lpstr>
      <vt:lpstr>Presentación de PowerPoint</vt:lpstr>
      <vt:lpstr>Presentación de PowerPoint</vt:lpstr>
      <vt:lpstr>Presentación de PowerPoint</vt:lpstr>
      <vt:lpstr>Presentación de PowerPoint</vt:lpstr>
      <vt:lpstr>Presentación de PowerPoint</vt:lpstr>
      <vt:lpstr> 4. Otros Registros:   Reg Nº 6.- Otras Operaciones de Mantenimiento. Incidencias y Medidas Adoptadas Reg Nº 7.- Paradas y Puestas en Marcha Técnicas Reg Nº 8.- Mantenimiento de Equipos e Instalaciones Reg Nº 9.- Revisión Documental </vt:lpstr>
      <vt:lpstr>Presentación de PowerPoint</vt:lpstr>
      <vt:lpstr>Presentación de PowerPoint</vt:lpstr>
      <vt:lpstr>Presentación de PowerPoint</vt:lpstr>
      <vt:lpstr>Presentación de PowerPoint</vt:lpstr>
      <vt:lpstr>5.Certificados de Limpieza y Desinfección</vt:lpstr>
      <vt:lpstr>6.Cronogramas de Toma de Muestras y Boletines de Resultados Analíticos.  Medidas a Adoptar en el Caso de Detección de Legionella spp y Seguimiento de Positivos  Certificados L+D en Caso de Detección de Legionella spp o Aerobios Totales </vt:lpstr>
      <vt:lpstr> </vt:lpstr>
      <vt:lpstr>Presentación de PowerPoint</vt:lpstr>
      <vt:lpstr>Presentación de PowerPoint</vt:lpstr>
      <vt:lpstr>7.Actas de Inspección Sanitarias</vt:lpstr>
      <vt:lpstr>8. Partes de Trabajo MENSUALES y Deficiencias Técnicas Detectadas Por Sanisur.</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de Legionelosis Informe Técnico</dc:title>
  <dc:creator>SANISUR.</dc:creator>
  <cp:lastModifiedBy>PC2SS</cp:lastModifiedBy>
  <cp:revision>305</cp:revision>
  <cp:lastPrinted>2019-10-01T18:21:12Z</cp:lastPrinted>
  <dcterms:created xsi:type="dcterms:W3CDTF">2006-05-16T17:13:59Z</dcterms:created>
  <dcterms:modified xsi:type="dcterms:W3CDTF">2023-06-02T09:19:48Z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3</vt:i4>
  </property>
  <property fmtid="{D5CDD505-2E9C-101B-9397-08002B2CF9AE}" pid="3" name="LCID">
    <vt:i4>3082</vt:i4>
  </property>
</Properties>
</file>